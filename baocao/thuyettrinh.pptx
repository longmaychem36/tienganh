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Kelvinch" panose="020B0604020202020204" charset="0"/>
      <p:regular r:id="rId19"/>
    </p:embeddedFont>
    <p:embeddedFont>
      <p:font typeface="Kelvinch Bold" panose="020B0604020202020204" charset="0"/>
      <p:regular r:id="rId20"/>
    </p:embeddedFont>
    <p:embeddedFont>
      <p:font typeface="Oswald" panose="00000500000000000000" pitchFamily="2" charset="0"/>
      <p:regular r:id="rId21"/>
    </p:embeddedFont>
    <p:embeddedFont>
      <p:font typeface="Oswald Bold" panose="00000800000000000000" charset="0"/>
      <p:regular r:id="rId22"/>
    </p:embeddedFont>
    <p:embeddedFont>
      <p:font typeface="Tinos" panose="020B0604020202020204" charset="0"/>
      <p:regular r:id="rId23"/>
    </p:embeddedFont>
    <p:embeddedFont>
      <p:font typeface="Tinos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81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295807"/>
            <a:chOff x="0" y="0"/>
            <a:chExt cx="5254360" cy="341282"/>
          </a:xfrm>
        </p:grpSpPr>
        <p:sp>
          <p:nvSpPr>
            <p:cNvPr id="3" name="Freeform 3"/>
            <p:cNvSpPr/>
            <p:nvPr/>
          </p:nvSpPr>
          <p:spPr>
            <a:xfrm>
              <a:off x="0" y="0"/>
              <a:ext cx="5254360" cy="341282"/>
            </a:xfrm>
            <a:custGeom>
              <a:avLst/>
              <a:gdLst/>
              <a:ahLst/>
              <a:cxnLst/>
              <a:rect l="l" t="t" r="r" b="b"/>
              <a:pathLst>
                <a:path w="5254360" h="341282">
                  <a:moveTo>
                    <a:pt x="19791" y="0"/>
                  </a:moveTo>
                  <a:lnTo>
                    <a:pt x="5234569" y="0"/>
                  </a:lnTo>
                  <a:cubicBezTo>
                    <a:pt x="5245500" y="0"/>
                    <a:pt x="5254360" y="8861"/>
                    <a:pt x="5254360" y="19791"/>
                  </a:cubicBezTo>
                  <a:lnTo>
                    <a:pt x="5254360" y="321491"/>
                  </a:lnTo>
                  <a:cubicBezTo>
                    <a:pt x="5254360" y="326740"/>
                    <a:pt x="5252275" y="331774"/>
                    <a:pt x="5248564" y="335486"/>
                  </a:cubicBezTo>
                  <a:cubicBezTo>
                    <a:pt x="5244852" y="339197"/>
                    <a:pt x="5239818" y="341282"/>
                    <a:pt x="5234569" y="341282"/>
                  </a:cubicBezTo>
                  <a:lnTo>
                    <a:pt x="19791" y="341282"/>
                  </a:lnTo>
                  <a:cubicBezTo>
                    <a:pt x="8861" y="341282"/>
                    <a:pt x="0" y="332422"/>
                    <a:pt x="0" y="321491"/>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38100"/>
              <a:ext cx="5254360" cy="37938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94999" y="149139"/>
            <a:ext cx="8025663" cy="912496"/>
            <a:chOff x="0" y="0"/>
            <a:chExt cx="10700884" cy="1216662"/>
          </a:xfrm>
        </p:grpSpPr>
        <p:sp>
          <p:nvSpPr>
            <p:cNvPr id="6" name="Freeform 6"/>
            <p:cNvSpPr/>
            <p:nvPr/>
          </p:nvSpPr>
          <p:spPr>
            <a:xfrm>
              <a:off x="0" y="0"/>
              <a:ext cx="2753726" cy="1216662"/>
            </a:xfrm>
            <a:custGeom>
              <a:avLst/>
              <a:gdLst/>
              <a:ahLst/>
              <a:cxnLst/>
              <a:rect l="l" t="t" r="r" b="b"/>
              <a:pathLst>
                <a:path w="2753726" h="1216662">
                  <a:moveTo>
                    <a:pt x="0" y="0"/>
                  </a:moveTo>
                  <a:lnTo>
                    <a:pt x="2753726" y="0"/>
                  </a:lnTo>
                  <a:lnTo>
                    <a:pt x="2753726" y="1216662"/>
                  </a:lnTo>
                  <a:lnTo>
                    <a:pt x="0" y="1216662"/>
                  </a:lnTo>
                  <a:lnTo>
                    <a:pt x="0" y="0"/>
                  </a:lnTo>
                  <a:close/>
                </a:path>
              </a:pathLst>
            </a:custGeom>
            <a:blipFill>
              <a:blip r:embed="rId2"/>
              <a:stretch>
                <a:fillRect/>
              </a:stretch>
            </a:blipFill>
          </p:spPr>
        </p:sp>
        <p:sp>
          <p:nvSpPr>
            <p:cNvPr id="7" name="TextBox 7"/>
            <p:cNvSpPr txBox="1"/>
            <p:nvPr/>
          </p:nvSpPr>
          <p:spPr>
            <a:xfrm>
              <a:off x="3449709" y="230951"/>
              <a:ext cx="7251174" cy="758402"/>
            </a:xfrm>
            <a:prstGeom prst="rect">
              <a:avLst/>
            </a:prstGeom>
          </p:spPr>
          <p:txBody>
            <a:bodyPr lIns="0" tIns="0" rIns="0" bIns="0" rtlCol="0" anchor="t">
              <a:spAutoFit/>
            </a:bodyPr>
            <a:lstStyle/>
            <a:p>
              <a:pPr algn="l">
                <a:lnSpc>
                  <a:spcPts val="2379"/>
                </a:lnSpc>
              </a:pPr>
              <a:r>
                <a:rPr lang="en-US" sz="1699" b="1">
                  <a:solidFill>
                    <a:srgbClr val="FFFFFF"/>
                  </a:solidFill>
                  <a:latin typeface="Oswald Bold"/>
                  <a:ea typeface="Oswald Bold"/>
                  <a:cs typeface="Oswald Bold"/>
                  <a:sym typeface="Oswald Bold"/>
                </a:rPr>
                <a:t>Trường ĐH Công nghệ Kỹ thuật TP. Hồ Chí Minh</a:t>
              </a:r>
            </a:p>
            <a:p>
              <a:pPr algn="l">
                <a:lnSpc>
                  <a:spcPts val="2379"/>
                </a:lnSpc>
              </a:pPr>
              <a:r>
                <a:rPr lang="en-US" sz="1699" b="1">
                  <a:solidFill>
                    <a:srgbClr val="FFFFFF"/>
                  </a:solidFill>
                  <a:latin typeface="Oswald Bold"/>
                  <a:ea typeface="Oswald Bold"/>
                  <a:cs typeface="Oswald Bold"/>
                  <a:sym typeface="Oswald Bold"/>
                </a:rPr>
                <a:t>Khoa Công nghệ Thông tin</a:t>
              </a:r>
            </a:p>
          </p:txBody>
        </p:sp>
        <p:sp>
          <p:nvSpPr>
            <p:cNvPr id="8" name="AutoShape 8"/>
            <p:cNvSpPr/>
            <p:nvPr/>
          </p:nvSpPr>
          <p:spPr>
            <a:xfrm flipV="1">
              <a:off x="3101717" y="200869"/>
              <a:ext cx="0" cy="814925"/>
            </a:xfrm>
            <a:prstGeom prst="line">
              <a:avLst/>
            </a:prstGeom>
            <a:ln w="36652" cap="flat">
              <a:solidFill>
                <a:srgbClr val="FFFFFF"/>
              </a:solidFill>
              <a:prstDash val="solid"/>
              <a:headEnd type="none" w="sm" len="sm"/>
              <a:tailEnd type="none" w="sm" len="sm"/>
            </a:ln>
          </p:spPr>
        </p:sp>
      </p:grpSp>
      <p:sp>
        <p:nvSpPr>
          <p:cNvPr id="9" name="TextBox 9"/>
          <p:cNvSpPr txBox="1"/>
          <p:nvPr/>
        </p:nvSpPr>
        <p:spPr>
          <a:xfrm>
            <a:off x="1634041" y="1541963"/>
            <a:ext cx="15019917" cy="1475937"/>
          </a:xfrm>
          <a:prstGeom prst="rect">
            <a:avLst/>
          </a:prstGeom>
        </p:spPr>
        <p:txBody>
          <a:bodyPr lIns="0" tIns="0" rIns="0" bIns="0" rtlCol="0" anchor="t">
            <a:spAutoFit/>
          </a:bodyPr>
          <a:lstStyle/>
          <a:p>
            <a:pPr algn="ctr">
              <a:lnSpc>
                <a:spcPts val="6479"/>
              </a:lnSpc>
            </a:pPr>
            <a:r>
              <a:rPr lang="en-US" sz="4984" b="1" spc="498">
                <a:solidFill>
                  <a:srgbClr val="000000"/>
                </a:solidFill>
                <a:latin typeface="Oswald Bold"/>
                <a:ea typeface="Oswald Bold"/>
                <a:cs typeface="Oswald Bold"/>
                <a:sym typeface="Oswald Bold"/>
              </a:rPr>
              <a:t>KHÓA LUẬN TỐT NGHIỆP</a:t>
            </a:r>
          </a:p>
          <a:p>
            <a:pPr algn="ctr">
              <a:lnSpc>
                <a:spcPts val="5309"/>
              </a:lnSpc>
            </a:pPr>
            <a:r>
              <a:rPr lang="en-US" sz="4084" b="1" spc="408">
                <a:solidFill>
                  <a:srgbClr val="FE2635"/>
                </a:solidFill>
                <a:latin typeface="Oswald Bold"/>
                <a:ea typeface="Oswald Bold"/>
                <a:cs typeface="Oswald Bold"/>
                <a:sym typeface="Oswald Bold"/>
              </a:rPr>
              <a:t>NGÀNH CÔNG NGHỆ THÔNG TIN</a:t>
            </a:r>
          </a:p>
        </p:txBody>
      </p:sp>
      <p:sp>
        <p:nvSpPr>
          <p:cNvPr id="10" name="TextBox 10"/>
          <p:cNvSpPr txBox="1"/>
          <p:nvPr/>
        </p:nvSpPr>
        <p:spPr>
          <a:xfrm>
            <a:off x="416673" y="4018184"/>
            <a:ext cx="17454654" cy="2189480"/>
          </a:xfrm>
          <a:prstGeom prst="rect">
            <a:avLst/>
          </a:prstGeom>
        </p:spPr>
        <p:txBody>
          <a:bodyPr lIns="0" tIns="0" rIns="0" bIns="0" rtlCol="0" anchor="t">
            <a:spAutoFit/>
          </a:bodyPr>
          <a:lstStyle/>
          <a:p>
            <a:pPr algn="ctr">
              <a:lnSpc>
                <a:spcPts val="8709"/>
              </a:lnSpc>
            </a:pPr>
            <a:r>
              <a:rPr lang="en-US" sz="6499" b="1" spc="649" dirty="0">
                <a:solidFill>
                  <a:srgbClr val="000000"/>
                </a:solidFill>
                <a:latin typeface="Oswald Bold"/>
                <a:ea typeface="Oswald Bold"/>
                <a:cs typeface="Oswald Bold"/>
                <a:sym typeface="Oswald Bold"/>
              </a:rPr>
              <a:t>XÂY DỰNG WEBSITE TỰ HỌC TIẾNG ANH</a:t>
            </a:r>
          </a:p>
          <a:p>
            <a:pPr algn="ctr">
              <a:lnSpc>
                <a:spcPts val="8709"/>
              </a:lnSpc>
            </a:pPr>
            <a:endParaRPr lang="en-US" sz="6499" b="1" spc="649" dirty="0">
              <a:solidFill>
                <a:srgbClr val="000000"/>
              </a:solidFill>
              <a:latin typeface="Oswald Bold"/>
              <a:ea typeface="Oswald Bold"/>
              <a:cs typeface="Oswald Bold"/>
              <a:sym typeface="Oswald Bold"/>
            </a:endParaRPr>
          </a:p>
        </p:txBody>
      </p:sp>
      <p:sp>
        <p:nvSpPr>
          <p:cNvPr id="11" name="TextBox 11"/>
          <p:cNvSpPr txBox="1"/>
          <p:nvPr/>
        </p:nvSpPr>
        <p:spPr>
          <a:xfrm>
            <a:off x="12572236" y="7236524"/>
            <a:ext cx="5753864" cy="1590675"/>
          </a:xfrm>
          <a:prstGeom prst="rect">
            <a:avLst/>
          </a:prstGeom>
        </p:spPr>
        <p:txBody>
          <a:bodyPr lIns="0" tIns="0" rIns="0" bIns="0" rtlCol="0" anchor="t">
            <a:spAutoFit/>
          </a:bodyPr>
          <a:lstStyle/>
          <a:p>
            <a:pPr algn="l">
              <a:lnSpc>
                <a:spcPts val="4200"/>
              </a:lnSpc>
            </a:pPr>
            <a:r>
              <a:rPr lang="en-US" sz="3000" b="1" dirty="0">
                <a:solidFill>
                  <a:srgbClr val="000000"/>
                </a:solidFill>
                <a:latin typeface="Oswald Bold"/>
                <a:ea typeface="Oswald Bold"/>
                <a:cs typeface="Oswald Bold"/>
                <a:sym typeface="Oswald Bold"/>
              </a:rPr>
              <a:t>GVHD: </a:t>
            </a:r>
            <a:r>
              <a:rPr lang="en-US" sz="3000" b="1" dirty="0" err="1">
                <a:solidFill>
                  <a:srgbClr val="000000"/>
                </a:solidFill>
                <a:latin typeface="Oswald Bold"/>
                <a:ea typeface="Oswald Bold"/>
                <a:cs typeface="Oswald Bold"/>
                <a:sym typeface="Oswald Bold"/>
              </a:rPr>
              <a:t>Ths</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Nguyễn</a:t>
            </a:r>
            <a:r>
              <a:rPr lang="en-US" sz="3000" b="1" dirty="0">
                <a:solidFill>
                  <a:srgbClr val="000000"/>
                </a:solidFill>
                <a:latin typeface="Oswald Bold"/>
                <a:ea typeface="Oswald Bold"/>
                <a:cs typeface="Oswald Bold"/>
                <a:sym typeface="Oswald Bold"/>
              </a:rPr>
              <a:t> Minh </a:t>
            </a:r>
            <a:r>
              <a:rPr lang="en-US" sz="3000" b="1" dirty="0" err="1">
                <a:solidFill>
                  <a:srgbClr val="000000"/>
                </a:solidFill>
                <a:latin typeface="Oswald Bold"/>
                <a:ea typeface="Oswald Bold"/>
                <a:cs typeface="Oswald Bold"/>
                <a:sym typeface="Oswald Bold"/>
              </a:rPr>
              <a:t>Đạo</a:t>
            </a:r>
            <a:endParaRPr lang="en-US" sz="3000" b="1" dirty="0">
              <a:solidFill>
                <a:srgbClr val="000000"/>
              </a:solidFill>
              <a:latin typeface="Oswald Bold"/>
              <a:ea typeface="Oswald Bold"/>
              <a:cs typeface="Oswald Bold"/>
              <a:sym typeface="Oswald Bold"/>
            </a:endParaRPr>
          </a:p>
          <a:p>
            <a:pPr algn="l">
              <a:lnSpc>
                <a:spcPts val="4200"/>
              </a:lnSpc>
            </a:pPr>
            <a:r>
              <a:rPr lang="en-US" sz="3000" b="1" dirty="0" err="1">
                <a:solidFill>
                  <a:srgbClr val="000000"/>
                </a:solidFill>
                <a:latin typeface="Oswald Bold"/>
                <a:ea typeface="Oswald Bold"/>
                <a:cs typeface="Oswald Bold"/>
                <a:sym typeface="Oswald Bold"/>
              </a:rPr>
              <a:t>Nhóm</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sinh</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viên</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thực</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hiện</a:t>
            </a:r>
            <a:r>
              <a:rPr lang="en-US" sz="3000" b="1" dirty="0">
                <a:solidFill>
                  <a:srgbClr val="000000"/>
                </a:solidFill>
                <a:latin typeface="Oswald Bold"/>
                <a:ea typeface="Oswald Bold"/>
                <a:cs typeface="Oswald Bold"/>
                <a:sym typeface="Oswald Bold"/>
              </a:rPr>
              <a:t>: </a:t>
            </a:r>
          </a:p>
          <a:p>
            <a:pPr algn="just">
              <a:lnSpc>
                <a:spcPts val="4200"/>
              </a:lnSpc>
            </a:pPr>
            <a:r>
              <a:rPr lang="en-US" sz="3000" dirty="0">
                <a:solidFill>
                  <a:srgbClr val="000000"/>
                </a:solidFill>
                <a:latin typeface="Oswald"/>
                <a:ea typeface="Oswald"/>
                <a:cs typeface="Oswald"/>
                <a:sym typeface="Oswald"/>
              </a:rPr>
              <a:t>     </a:t>
            </a:r>
            <a:r>
              <a:rPr lang="en-US" sz="3000" dirty="0" err="1">
                <a:solidFill>
                  <a:srgbClr val="000000"/>
                </a:solidFill>
                <a:latin typeface="Oswald"/>
                <a:ea typeface="Oswald"/>
                <a:cs typeface="Oswald"/>
                <a:sym typeface="Oswald"/>
              </a:rPr>
              <a:t>Phạm</a:t>
            </a:r>
            <a:r>
              <a:rPr lang="en-US" sz="3000" dirty="0">
                <a:solidFill>
                  <a:srgbClr val="000000"/>
                </a:solidFill>
                <a:latin typeface="Oswald"/>
                <a:ea typeface="Oswald"/>
                <a:cs typeface="Oswald"/>
                <a:sym typeface="Oswald"/>
              </a:rPr>
              <a:t> Phi Long - 22110174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NỘI DUNG</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1</a:t>
              </a:r>
            </a:p>
          </p:txBody>
        </p:sp>
      </p:grpSp>
      <p:sp>
        <p:nvSpPr>
          <p:cNvPr id="9" name="AutoShape 9"/>
          <p:cNvSpPr/>
          <p:nvPr/>
        </p:nvSpPr>
        <p:spPr>
          <a:xfrm flipV="1">
            <a:off x="9272588" y="1897380"/>
            <a:ext cx="0" cy="6492240"/>
          </a:xfrm>
          <a:prstGeom prst="line">
            <a:avLst/>
          </a:prstGeom>
          <a:ln w="38100" cap="flat">
            <a:solidFill>
              <a:srgbClr val="004AAD"/>
            </a:solidFill>
            <a:prstDash val="solid"/>
            <a:headEnd type="none" w="sm" len="sm"/>
            <a:tailEnd type="none" w="sm" len="sm"/>
          </a:ln>
        </p:spPr>
      </p:sp>
      <p:sp>
        <p:nvSpPr>
          <p:cNvPr id="10" name="Freeform 10"/>
          <p:cNvSpPr/>
          <p:nvPr/>
        </p:nvSpPr>
        <p:spPr>
          <a:xfrm>
            <a:off x="10366125" y="5699833"/>
            <a:ext cx="6304011" cy="4114800"/>
          </a:xfrm>
          <a:custGeom>
            <a:avLst/>
            <a:gdLst/>
            <a:ahLst/>
            <a:cxnLst/>
            <a:rect l="l" t="t" r="r" b="b"/>
            <a:pathLst>
              <a:path w="6304011" h="4114800">
                <a:moveTo>
                  <a:pt x="0" y="0"/>
                </a:moveTo>
                <a:lnTo>
                  <a:pt x="6304012" y="0"/>
                </a:lnTo>
                <a:lnTo>
                  <a:pt x="630401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514350" y="2240950"/>
            <a:ext cx="8115300" cy="3763645"/>
          </a:xfrm>
          <a:prstGeom prst="rect">
            <a:avLst/>
          </a:prstGeom>
        </p:spPr>
        <p:txBody>
          <a:bodyPr lIns="0" tIns="0" rIns="0" bIns="0" rtlCol="0" anchor="t">
            <a:spAutoFit/>
          </a:bodyPr>
          <a:lstStyle/>
          <a:p>
            <a:pPr algn="l">
              <a:lnSpc>
                <a:spcPts val="7639"/>
              </a:lnSpc>
            </a:pPr>
            <a:r>
              <a:rPr lang="en-US" sz="3999" spc="399">
                <a:solidFill>
                  <a:srgbClr val="000000"/>
                </a:solidFill>
                <a:latin typeface="Oswald"/>
                <a:ea typeface="Oswald"/>
                <a:cs typeface="Oswald"/>
                <a:sym typeface="Oswald"/>
              </a:rPr>
              <a:t>1. Giới thiệu đề tài</a:t>
            </a:r>
          </a:p>
          <a:p>
            <a:pPr algn="l">
              <a:lnSpc>
                <a:spcPts val="7639"/>
              </a:lnSpc>
            </a:pPr>
            <a:r>
              <a:rPr lang="en-US" sz="3999" spc="399">
                <a:solidFill>
                  <a:srgbClr val="000000"/>
                </a:solidFill>
                <a:latin typeface="Oswald"/>
                <a:ea typeface="Oswald"/>
                <a:cs typeface="Oswald"/>
                <a:sym typeface="Oswald"/>
              </a:rPr>
              <a:t>2. Kiến trúc &amp; Công nghệ</a:t>
            </a:r>
          </a:p>
          <a:p>
            <a:pPr algn="l">
              <a:lnSpc>
                <a:spcPts val="7639"/>
              </a:lnSpc>
            </a:pPr>
            <a:r>
              <a:rPr lang="en-US" sz="3999" spc="399">
                <a:solidFill>
                  <a:srgbClr val="000000"/>
                </a:solidFill>
                <a:latin typeface="Oswald"/>
                <a:ea typeface="Oswald"/>
                <a:cs typeface="Oswald"/>
                <a:sym typeface="Oswald"/>
              </a:rPr>
              <a:t>3. Triển khai &amp; vận hành</a:t>
            </a:r>
          </a:p>
          <a:p>
            <a:pPr algn="l">
              <a:lnSpc>
                <a:spcPts val="7639"/>
              </a:lnSpc>
            </a:pPr>
            <a:r>
              <a:rPr lang="en-US" sz="3999" spc="399">
                <a:solidFill>
                  <a:srgbClr val="000000"/>
                </a:solidFill>
                <a:latin typeface="Oswald"/>
                <a:ea typeface="Oswald"/>
                <a:cs typeface="Oswald"/>
                <a:sym typeface="Oswald"/>
              </a:rPr>
              <a:t>4. Demo</a:t>
            </a:r>
          </a:p>
        </p:txBody>
      </p:sp>
      <p:sp>
        <p:nvSpPr>
          <p:cNvPr id="12" name="TextBox 12"/>
          <p:cNvSpPr txBox="1"/>
          <p:nvPr/>
        </p:nvSpPr>
        <p:spPr>
          <a:xfrm>
            <a:off x="9915525" y="2240950"/>
            <a:ext cx="8372475" cy="1839595"/>
          </a:xfrm>
          <a:prstGeom prst="rect">
            <a:avLst/>
          </a:prstGeom>
        </p:spPr>
        <p:txBody>
          <a:bodyPr lIns="0" tIns="0" rIns="0" bIns="0" rtlCol="0" anchor="t">
            <a:spAutoFit/>
          </a:bodyPr>
          <a:lstStyle/>
          <a:p>
            <a:pPr algn="l">
              <a:lnSpc>
                <a:spcPts val="7639"/>
              </a:lnSpc>
            </a:pPr>
            <a:r>
              <a:rPr lang="en-US" sz="3999" spc="399">
                <a:solidFill>
                  <a:srgbClr val="000000"/>
                </a:solidFill>
                <a:latin typeface="Oswald"/>
                <a:ea typeface="Oswald"/>
                <a:cs typeface="Oswald"/>
                <a:sym typeface="Oswald"/>
              </a:rPr>
              <a:t>5. Kết luận</a:t>
            </a:r>
          </a:p>
          <a:p>
            <a:pPr algn="l">
              <a:lnSpc>
                <a:spcPts val="7639"/>
              </a:lnSpc>
            </a:pPr>
            <a:r>
              <a:rPr lang="en-US" sz="3999" spc="399">
                <a:solidFill>
                  <a:srgbClr val="000000"/>
                </a:solidFill>
                <a:latin typeface="Oswald"/>
                <a:ea typeface="Oswald"/>
                <a:cs typeface="Oswald"/>
                <a:sym typeface="Oswald"/>
              </a:rPr>
              <a:t>6. Tài liệu tham khảo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GIỚI THIỆU ĐỀ TÀI</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2</a:t>
              </a:r>
            </a:p>
          </p:txBody>
        </p:sp>
      </p:grpSp>
      <p:sp>
        <p:nvSpPr>
          <p:cNvPr id="9" name="TextBox 9"/>
          <p:cNvSpPr txBox="1"/>
          <p:nvPr/>
        </p:nvSpPr>
        <p:spPr>
          <a:xfrm>
            <a:off x="451727" y="1811430"/>
            <a:ext cx="2326318"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BỐI CẢNH</a:t>
            </a:r>
          </a:p>
        </p:txBody>
      </p:sp>
      <p:sp>
        <p:nvSpPr>
          <p:cNvPr id="10" name="TextBox 10"/>
          <p:cNvSpPr txBox="1"/>
          <p:nvPr/>
        </p:nvSpPr>
        <p:spPr>
          <a:xfrm>
            <a:off x="8712904" y="1811430"/>
            <a:ext cx="2551829"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MỤC TIÊU</a:t>
            </a:r>
          </a:p>
        </p:txBody>
      </p:sp>
      <p:sp>
        <p:nvSpPr>
          <p:cNvPr id="11" name="TextBox 11"/>
          <p:cNvSpPr txBox="1"/>
          <p:nvPr/>
        </p:nvSpPr>
        <p:spPr>
          <a:xfrm>
            <a:off x="451727" y="2797174"/>
            <a:ext cx="6205476" cy="2143125"/>
          </a:xfrm>
          <a:prstGeom prst="rect">
            <a:avLst/>
          </a:prstGeom>
        </p:spPr>
        <p:txBody>
          <a:bodyPr lIns="0" tIns="0" rIns="0" bIns="0" rtlCol="0" anchor="t">
            <a:spAutoFit/>
          </a:bodyPr>
          <a:lstStyle/>
          <a:p>
            <a:pPr algn="l">
              <a:lnSpc>
                <a:spcPts val="4200"/>
              </a:lnSpc>
              <a:spcBef>
                <a:spcPct val="0"/>
              </a:spcBef>
            </a:pPr>
            <a:r>
              <a:rPr lang="en-US" sz="3000" dirty="0">
                <a:solidFill>
                  <a:srgbClr val="000000"/>
                </a:solidFill>
                <a:latin typeface="Tinos"/>
                <a:ea typeface="Tinos"/>
                <a:cs typeface="Tinos"/>
                <a:sym typeface="Tinos"/>
              </a:rPr>
              <a:t>Nhu </a:t>
            </a:r>
            <a:r>
              <a:rPr lang="en-US" sz="3000" dirty="0" err="1">
                <a:solidFill>
                  <a:srgbClr val="000000"/>
                </a:solidFill>
                <a:latin typeface="Tinos"/>
                <a:ea typeface="Tinos"/>
                <a:cs typeface="Tinos"/>
                <a:sym typeface="Tinos"/>
              </a:rPr>
              <a:t>cầu</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tự</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tiếng</a:t>
            </a:r>
            <a:r>
              <a:rPr lang="en-US" sz="3000" dirty="0">
                <a:solidFill>
                  <a:srgbClr val="000000"/>
                </a:solidFill>
                <a:latin typeface="Tinos"/>
                <a:ea typeface="Tinos"/>
                <a:cs typeface="Tinos"/>
                <a:sym typeface="Tinos"/>
              </a:rPr>
              <a:t> Anh </a:t>
            </a:r>
            <a:r>
              <a:rPr lang="en-US" sz="3000" dirty="0" err="1">
                <a:solidFill>
                  <a:srgbClr val="000000"/>
                </a:solidFill>
                <a:latin typeface="Tinos"/>
                <a:ea typeface="Tinos"/>
                <a:cs typeface="Tinos"/>
                <a:sym typeface="Tinos"/>
              </a:rPr>
              <a:t>tăng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mạnh</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nhưng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người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thiếu</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thời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gian</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và</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khó</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duy</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trì</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thói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quen</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hàng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ngày</a:t>
            </a:r>
            <a:endParaRPr lang="en-US" sz="3000" dirty="0">
              <a:solidFill>
                <a:srgbClr val="000000"/>
              </a:solidFill>
              <a:latin typeface="Tinos"/>
              <a:ea typeface="Tinos"/>
              <a:cs typeface="Tinos"/>
              <a:sym typeface="Tinos"/>
            </a:endParaRPr>
          </a:p>
          <a:p>
            <a:pPr algn="l">
              <a:lnSpc>
                <a:spcPts val="4200"/>
              </a:lnSpc>
              <a:spcBef>
                <a:spcPct val="0"/>
              </a:spcBef>
            </a:pPr>
            <a:endParaRPr lang="en-US" sz="3000" dirty="0">
              <a:solidFill>
                <a:srgbClr val="000000"/>
              </a:solidFill>
              <a:latin typeface="Tinos"/>
              <a:ea typeface="Tinos"/>
              <a:cs typeface="Tinos"/>
              <a:sym typeface="Tinos"/>
            </a:endParaRPr>
          </a:p>
        </p:txBody>
      </p:sp>
      <p:sp>
        <p:nvSpPr>
          <p:cNvPr id="12" name="TextBox 12"/>
          <p:cNvSpPr txBox="1"/>
          <p:nvPr/>
        </p:nvSpPr>
        <p:spPr>
          <a:xfrm>
            <a:off x="8069176" y="2797174"/>
            <a:ext cx="9995439" cy="1609725"/>
          </a:xfrm>
          <a:prstGeom prst="rect">
            <a:avLst/>
          </a:prstGeom>
        </p:spPr>
        <p:txBody>
          <a:bodyPr lIns="0" tIns="0" rIns="0" bIns="0" rtlCol="0" anchor="t">
            <a:spAutoFit/>
          </a:bodyPr>
          <a:lstStyle/>
          <a:p>
            <a:pPr marL="647700" lvl="1" indent="-323850" algn="l">
              <a:lnSpc>
                <a:spcPts val="4200"/>
              </a:lnSpc>
              <a:buFont typeface="Arial"/>
              <a:buChar char="•"/>
            </a:pPr>
            <a:r>
              <a:rPr lang="en-US" sz="3000" dirty="0">
                <a:solidFill>
                  <a:srgbClr val="000000"/>
                </a:solidFill>
                <a:latin typeface="Tinos"/>
                <a:ea typeface="Tinos"/>
                <a:cs typeface="Tinos"/>
                <a:sym typeface="Tinos"/>
              </a:rPr>
              <a:t>Website </a:t>
            </a:r>
            <a:r>
              <a:rPr lang="en-US" sz="3000" dirty="0" err="1">
                <a:solidFill>
                  <a:srgbClr val="000000"/>
                </a:solidFill>
                <a:latin typeface="Tinos"/>
                <a:ea typeface="Tinos"/>
                <a:cs typeface="Tinos"/>
                <a:sym typeface="Tinos"/>
              </a:rPr>
              <a:t>tự</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tiếng</a:t>
            </a:r>
            <a:r>
              <a:rPr lang="en-US" sz="3000" dirty="0">
                <a:solidFill>
                  <a:srgbClr val="000000"/>
                </a:solidFill>
                <a:latin typeface="Tinos"/>
                <a:ea typeface="Tinos"/>
                <a:cs typeface="Tinos"/>
                <a:sym typeface="Tinos"/>
              </a:rPr>
              <a:t> Anh </a:t>
            </a:r>
            <a:r>
              <a:rPr lang="en-US" sz="3000" dirty="0" err="1">
                <a:solidFill>
                  <a:srgbClr val="000000"/>
                </a:solidFill>
                <a:latin typeface="Tinos"/>
                <a:ea typeface="Tinos"/>
                <a:cs typeface="Tinos"/>
                <a:sym typeface="Tinos"/>
              </a:rPr>
              <a:t>dễ</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thao</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tác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đa</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dạng</a:t>
            </a:r>
            <a:r>
              <a:rPr lang="en-US" sz="3000" dirty="0">
                <a:solidFill>
                  <a:srgbClr val="000000"/>
                </a:solidFill>
                <a:latin typeface="Tinos"/>
                <a:ea typeface="Tinos"/>
                <a:cs typeface="Tinos"/>
                <a:sym typeface="Tinos"/>
              </a:rPr>
              <a:t> </a:t>
            </a:r>
          </a:p>
          <a:p>
            <a:pPr marL="647700" lvl="1" indent="-323850" algn="l">
              <a:lnSpc>
                <a:spcPts val="4200"/>
              </a:lnSpc>
              <a:buFont typeface="Arial"/>
              <a:buChar char="•"/>
            </a:pPr>
            <a:r>
              <a:rPr lang="en-US" sz="3000" dirty="0" err="1">
                <a:solidFill>
                  <a:srgbClr val="000000"/>
                </a:solidFill>
                <a:latin typeface="Tinos"/>
                <a:ea typeface="Tinos"/>
                <a:cs typeface="Tinos"/>
                <a:sym typeface="Tinos"/>
              </a:rPr>
              <a:t>Xây</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dựng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thói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quen</a:t>
            </a:r>
            <a:endParaRPr lang="en-US" sz="3000" dirty="0">
              <a:solidFill>
                <a:srgbClr val="000000"/>
              </a:solidFill>
              <a:latin typeface="Tinos"/>
              <a:ea typeface="Tinos"/>
              <a:cs typeface="Tinos"/>
              <a:sym typeface="Tinos"/>
            </a:endParaRPr>
          </a:p>
          <a:p>
            <a:pPr marL="647700" lvl="1" indent="-323850" algn="l">
              <a:lnSpc>
                <a:spcPts val="4200"/>
              </a:lnSpc>
              <a:buFont typeface="Arial"/>
              <a:buChar char="•"/>
            </a:pPr>
            <a:r>
              <a:rPr lang="en-US" sz="3000" dirty="0" err="1">
                <a:solidFill>
                  <a:srgbClr val="000000"/>
                </a:solidFill>
                <a:latin typeface="Tinos"/>
                <a:ea typeface="Tinos"/>
                <a:cs typeface="Tinos"/>
                <a:sym typeface="Tinos"/>
              </a:rPr>
              <a:t>Cá</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nhân</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hoá</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lộ</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trình</a:t>
            </a:r>
            <a:endParaRPr lang="en-US" sz="3000" dirty="0">
              <a:solidFill>
                <a:srgbClr val="000000"/>
              </a:solidFill>
              <a:latin typeface="Tinos"/>
              <a:ea typeface="Tinos"/>
              <a:cs typeface="Tinos"/>
              <a:sym typeface="Tinos"/>
            </a:endParaRPr>
          </a:p>
        </p:txBody>
      </p:sp>
      <p:sp>
        <p:nvSpPr>
          <p:cNvPr id="13" name="Freeform 13"/>
          <p:cNvSpPr/>
          <p:nvPr/>
        </p:nvSpPr>
        <p:spPr>
          <a:xfrm>
            <a:off x="451727" y="4750761"/>
            <a:ext cx="6205476" cy="4388964"/>
          </a:xfrm>
          <a:custGeom>
            <a:avLst/>
            <a:gdLst/>
            <a:ahLst/>
            <a:cxnLst/>
            <a:rect l="l" t="t" r="r" b="b"/>
            <a:pathLst>
              <a:path w="6205476" h="4388964">
                <a:moveTo>
                  <a:pt x="0" y="0"/>
                </a:moveTo>
                <a:lnTo>
                  <a:pt x="6205475" y="0"/>
                </a:lnTo>
                <a:lnTo>
                  <a:pt x="6205475" y="4388964"/>
                </a:lnTo>
                <a:lnTo>
                  <a:pt x="0" y="43889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13066896" y="5348573"/>
            <a:ext cx="2705630" cy="3193340"/>
          </a:xfrm>
          <a:custGeom>
            <a:avLst/>
            <a:gdLst/>
            <a:ahLst/>
            <a:cxnLst/>
            <a:rect l="l" t="t" r="r" b="b"/>
            <a:pathLst>
              <a:path w="2705630" h="3193340">
                <a:moveTo>
                  <a:pt x="0" y="0"/>
                </a:moveTo>
                <a:lnTo>
                  <a:pt x="2705630" y="0"/>
                </a:lnTo>
                <a:lnTo>
                  <a:pt x="2705630" y="3193340"/>
                </a:lnTo>
                <a:lnTo>
                  <a:pt x="0" y="31933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a:off x="8952067" y="5348573"/>
            <a:ext cx="3234506" cy="3193340"/>
          </a:xfrm>
          <a:custGeom>
            <a:avLst/>
            <a:gdLst/>
            <a:ahLst/>
            <a:cxnLst/>
            <a:rect l="l" t="t" r="r" b="b"/>
            <a:pathLst>
              <a:path w="3234506" h="3193340">
                <a:moveTo>
                  <a:pt x="0" y="0"/>
                </a:moveTo>
                <a:lnTo>
                  <a:pt x="3234506" y="0"/>
                </a:lnTo>
                <a:lnTo>
                  <a:pt x="3234506" y="3193340"/>
                </a:lnTo>
                <a:lnTo>
                  <a:pt x="0" y="31933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GIỚI THIỆU ĐỀ TÀI</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3</a:t>
              </a:r>
            </a:p>
          </p:txBody>
        </p:sp>
      </p:grpSp>
      <p:sp>
        <p:nvSpPr>
          <p:cNvPr id="9" name="Freeform 9"/>
          <p:cNvSpPr/>
          <p:nvPr/>
        </p:nvSpPr>
        <p:spPr>
          <a:xfrm>
            <a:off x="12436828" y="2166453"/>
            <a:ext cx="3193355" cy="2519847"/>
          </a:xfrm>
          <a:custGeom>
            <a:avLst/>
            <a:gdLst/>
            <a:ahLst/>
            <a:cxnLst/>
            <a:rect l="l" t="t" r="r" b="b"/>
            <a:pathLst>
              <a:path w="3193355" h="2519847">
                <a:moveTo>
                  <a:pt x="0" y="0"/>
                </a:moveTo>
                <a:lnTo>
                  <a:pt x="3193354" y="0"/>
                </a:lnTo>
                <a:lnTo>
                  <a:pt x="3193354" y="2519847"/>
                </a:lnTo>
                <a:lnTo>
                  <a:pt x="0" y="25198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294999" y="1339918"/>
            <a:ext cx="5388627"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ĐỐI TƯỢNG NGHIÊN CỨU</a:t>
            </a:r>
          </a:p>
        </p:txBody>
      </p:sp>
      <p:sp>
        <p:nvSpPr>
          <p:cNvPr id="11" name="TextBox 11"/>
          <p:cNvSpPr txBox="1"/>
          <p:nvPr/>
        </p:nvSpPr>
        <p:spPr>
          <a:xfrm>
            <a:off x="294999" y="4810125"/>
            <a:ext cx="4644515"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PHẠM VI NGHIÊN CỨU</a:t>
            </a:r>
          </a:p>
        </p:txBody>
      </p:sp>
      <p:sp>
        <p:nvSpPr>
          <p:cNvPr id="12" name="TextBox 12"/>
          <p:cNvSpPr txBox="1"/>
          <p:nvPr/>
        </p:nvSpPr>
        <p:spPr>
          <a:xfrm>
            <a:off x="294999" y="6362700"/>
            <a:ext cx="10827219" cy="4761303"/>
          </a:xfrm>
          <a:prstGeom prst="rect">
            <a:avLst/>
          </a:prstGeom>
        </p:spPr>
        <p:txBody>
          <a:bodyPr lIns="0" tIns="0" rIns="0" bIns="0" rtlCol="0" anchor="t">
            <a:spAutoFit/>
          </a:bodyPr>
          <a:lstStyle/>
          <a:p>
            <a:pPr marL="647700" lvl="1" indent="-323850" algn="just">
              <a:lnSpc>
                <a:spcPts val="4680"/>
              </a:lnSpc>
              <a:buFont typeface="Arial"/>
              <a:buChar char="•"/>
            </a:pPr>
            <a:r>
              <a:rPr lang="en-US" sz="3000" spc="300" dirty="0" err="1">
                <a:solidFill>
                  <a:srgbClr val="000000"/>
                </a:solidFill>
                <a:latin typeface="Tinos"/>
                <a:ea typeface="Tinos"/>
                <a:cs typeface="Tinos"/>
                <a:sym typeface="Tinos"/>
              </a:rPr>
              <a:t>Nghiên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cứu</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hệ</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thống</a:t>
            </a:r>
            <a:r>
              <a:rPr lang="en-US" sz="3000" spc="300" dirty="0">
                <a:solidFill>
                  <a:srgbClr val="000000"/>
                </a:solidFill>
                <a:latin typeface="Tinos"/>
                <a:ea typeface="Tinos"/>
                <a:cs typeface="Tinos"/>
                <a:sym typeface="Tinos"/>
              </a:rPr>
              <a:t> website </a:t>
            </a:r>
            <a:r>
              <a:rPr lang="en-US" sz="3000" spc="300" dirty="0" err="1">
                <a:solidFill>
                  <a:srgbClr val="000000"/>
                </a:solidFill>
                <a:latin typeface="Tinos"/>
                <a:ea typeface="Tinos"/>
                <a:cs typeface="Tinos"/>
                <a:sym typeface="Tinos"/>
              </a:rPr>
              <a:t>tự</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tiếng</a:t>
            </a:r>
            <a:r>
              <a:rPr lang="en-US" sz="3000" spc="300" dirty="0">
                <a:solidFill>
                  <a:srgbClr val="000000"/>
                </a:solidFill>
                <a:latin typeface="Tinos"/>
                <a:ea typeface="Tinos"/>
                <a:cs typeface="Tinos"/>
                <a:sym typeface="Tinos"/>
              </a:rPr>
              <a:t> Anh </a:t>
            </a:r>
            <a:r>
              <a:rPr lang="en-US" sz="3000" spc="300" dirty="0" err="1">
                <a:solidFill>
                  <a:srgbClr val="000000"/>
                </a:solidFill>
                <a:latin typeface="Tinos"/>
                <a:ea typeface="Tinos"/>
                <a:cs typeface="Tinos"/>
                <a:sym typeface="Tinos"/>
              </a:rPr>
              <a:t>cho</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hai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nhóm</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vai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trò</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người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quản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trị</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viên</a:t>
            </a:r>
            <a:r>
              <a:rPr lang="en-US" sz="3000" spc="300" dirty="0">
                <a:solidFill>
                  <a:srgbClr val="000000"/>
                </a:solidFill>
                <a:latin typeface="Tinos"/>
                <a:ea typeface="Tinos"/>
                <a:cs typeface="Tinos"/>
                <a:sym typeface="Tinos"/>
              </a:rPr>
              <a:t>.</a:t>
            </a:r>
          </a:p>
          <a:p>
            <a:pPr marL="647700" lvl="1" indent="-323850" algn="just">
              <a:lnSpc>
                <a:spcPts val="4680"/>
              </a:lnSpc>
              <a:buFont typeface="Arial"/>
              <a:buChar char="•"/>
            </a:pPr>
            <a:r>
              <a:rPr lang="en-US" sz="3000" spc="300" dirty="0">
                <a:solidFill>
                  <a:srgbClr val="000000"/>
                </a:solidFill>
                <a:latin typeface="Tinos"/>
                <a:ea typeface="Tinos"/>
                <a:cs typeface="Tinos"/>
                <a:sym typeface="Tinos"/>
              </a:rPr>
              <a:t>Website </a:t>
            </a:r>
            <a:r>
              <a:rPr lang="en-US" sz="3000" spc="300" dirty="0" err="1">
                <a:solidFill>
                  <a:srgbClr val="000000"/>
                </a:solidFill>
                <a:latin typeface="Tinos"/>
                <a:ea typeface="Tinos"/>
                <a:cs typeface="Tinos"/>
                <a:sym typeface="Tinos"/>
              </a:rPr>
              <a:t>giúp</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người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tập</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các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kĩ</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năng</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cơ</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bản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ôn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lại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bằng</a:t>
            </a:r>
            <a:r>
              <a:rPr lang="en-US" sz="3000" spc="300" dirty="0">
                <a:solidFill>
                  <a:srgbClr val="000000"/>
                </a:solidFill>
                <a:latin typeface="Tinos"/>
                <a:ea typeface="Tinos"/>
                <a:cs typeface="Tinos"/>
                <a:sym typeface="Tinos"/>
              </a:rPr>
              <a:t> minigame </a:t>
            </a:r>
            <a:r>
              <a:rPr lang="en-US" sz="3000" spc="300" dirty="0" err="1">
                <a:solidFill>
                  <a:srgbClr val="000000"/>
                </a:solidFill>
                <a:latin typeface="Tinos"/>
                <a:ea typeface="Tinos"/>
                <a:cs typeface="Tinos"/>
                <a:sym typeface="Tinos"/>
              </a:rPr>
              <a:t>nhỏ</a:t>
            </a:r>
            <a:endParaRPr lang="en-US" sz="3000" spc="300" dirty="0">
              <a:solidFill>
                <a:srgbClr val="000000"/>
              </a:solidFill>
              <a:latin typeface="Tinos"/>
              <a:ea typeface="Tinos"/>
              <a:cs typeface="Tinos"/>
              <a:sym typeface="Tinos"/>
            </a:endParaRPr>
          </a:p>
          <a:p>
            <a:pPr marL="647700" lvl="1" indent="-323850" algn="just">
              <a:lnSpc>
                <a:spcPts val="4680"/>
              </a:lnSpc>
              <a:buFont typeface="Arial"/>
              <a:buChar char="•"/>
            </a:pPr>
            <a:r>
              <a:rPr lang="en-US" sz="3000" spc="300" dirty="0">
                <a:solidFill>
                  <a:srgbClr val="000000"/>
                </a:solidFill>
                <a:latin typeface="Tinos"/>
                <a:ea typeface="Tinos"/>
                <a:cs typeface="Tinos"/>
                <a:sym typeface="Tinos"/>
              </a:rPr>
              <a:t>Website </a:t>
            </a:r>
            <a:r>
              <a:rPr lang="en-US" sz="3000" spc="300" dirty="0" err="1">
                <a:solidFill>
                  <a:srgbClr val="000000"/>
                </a:solidFill>
                <a:latin typeface="Tinos"/>
                <a:ea typeface="Tinos"/>
                <a:cs typeface="Tinos"/>
                <a:sym typeface="Tinos"/>
              </a:rPr>
              <a:t>hỗ</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trợ</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quản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lí</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bài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tài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khoản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người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cho</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quản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trị</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viên</a:t>
            </a:r>
            <a:r>
              <a:rPr lang="en-US" sz="3000" spc="300" dirty="0">
                <a:solidFill>
                  <a:srgbClr val="000000"/>
                </a:solidFill>
                <a:latin typeface="Tinos"/>
                <a:ea typeface="Tinos"/>
                <a:cs typeface="Tinos"/>
                <a:sym typeface="Tinos"/>
              </a:rPr>
              <a:t> .</a:t>
            </a:r>
          </a:p>
          <a:p>
            <a:pPr algn="just">
              <a:lnSpc>
                <a:spcPts val="4680"/>
              </a:lnSpc>
            </a:pPr>
            <a:endParaRPr lang="en-US" sz="3000" spc="300" dirty="0">
              <a:solidFill>
                <a:srgbClr val="000000"/>
              </a:solidFill>
              <a:latin typeface="Tinos"/>
              <a:ea typeface="Tinos"/>
              <a:cs typeface="Tinos"/>
              <a:sym typeface="Tinos"/>
            </a:endParaRPr>
          </a:p>
          <a:p>
            <a:pPr algn="just">
              <a:lnSpc>
                <a:spcPts val="4680"/>
              </a:lnSpc>
            </a:pPr>
            <a:endParaRPr lang="en-US" sz="3000" spc="300" dirty="0">
              <a:solidFill>
                <a:srgbClr val="000000"/>
              </a:solidFill>
              <a:latin typeface="Tinos"/>
              <a:ea typeface="Tinos"/>
              <a:cs typeface="Tinos"/>
              <a:sym typeface="Tinos"/>
            </a:endParaRPr>
          </a:p>
        </p:txBody>
      </p:sp>
      <p:sp>
        <p:nvSpPr>
          <p:cNvPr id="13" name="TextBox 13"/>
          <p:cNvSpPr txBox="1"/>
          <p:nvPr/>
        </p:nvSpPr>
        <p:spPr>
          <a:xfrm>
            <a:off x="294999" y="2457802"/>
            <a:ext cx="11573593" cy="2129790"/>
          </a:xfrm>
          <a:prstGeom prst="rect">
            <a:avLst/>
          </a:prstGeom>
        </p:spPr>
        <p:txBody>
          <a:bodyPr lIns="0" tIns="0" rIns="0" bIns="0" rtlCol="0" anchor="t">
            <a:spAutoFit/>
          </a:bodyPr>
          <a:lstStyle/>
          <a:p>
            <a:pPr algn="ctr">
              <a:lnSpc>
                <a:spcPts val="5730"/>
              </a:lnSpc>
              <a:spcBef>
                <a:spcPct val="0"/>
              </a:spcBef>
            </a:pPr>
            <a:r>
              <a:rPr lang="en-US" sz="3000" spc="300" dirty="0" err="1">
                <a:solidFill>
                  <a:srgbClr val="000000"/>
                </a:solidFill>
                <a:latin typeface="Tinos"/>
                <a:ea typeface="Tinos"/>
                <a:cs typeface="Tinos"/>
                <a:sym typeface="Tinos"/>
              </a:rPr>
              <a:t>Mô</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hình</a:t>
            </a:r>
            <a:r>
              <a:rPr lang="en-US" sz="3000" spc="300" dirty="0">
                <a:solidFill>
                  <a:srgbClr val="000000"/>
                </a:solidFill>
                <a:latin typeface="Tinos"/>
                <a:ea typeface="Tinos"/>
                <a:cs typeface="Tinos"/>
                <a:sym typeface="Tinos"/>
              </a:rPr>
              <a:t> website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tiếng</a:t>
            </a:r>
            <a:r>
              <a:rPr lang="en-US" sz="3000" spc="300" dirty="0">
                <a:solidFill>
                  <a:srgbClr val="000000"/>
                </a:solidFill>
                <a:latin typeface="Tinos"/>
                <a:ea typeface="Tinos"/>
                <a:cs typeface="Tinos"/>
                <a:sym typeface="Tinos"/>
              </a:rPr>
              <a:t> Anh </a:t>
            </a:r>
            <a:r>
              <a:rPr lang="en-US" sz="3000" spc="300" dirty="0" err="1">
                <a:solidFill>
                  <a:srgbClr val="000000"/>
                </a:solidFill>
                <a:latin typeface="Tinos"/>
                <a:ea typeface="Tinos"/>
                <a:cs typeface="Tinos"/>
                <a:sym typeface="Tinos"/>
              </a:rPr>
              <a:t>trực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tuyến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các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kỹ</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thuật</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tổ</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chức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nội</a:t>
            </a:r>
            <a:r>
              <a:rPr lang="en-US" sz="3000" spc="300" dirty="0">
                <a:solidFill>
                  <a:srgbClr val="000000"/>
                </a:solidFill>
                <a:latin typeface="Tinos"/>
                <a:ea typeface="Tinos"/>
                <a:cs typeface="Tinos"/>
                <a:sym typeface="Tinos"/>
              </a:rPr>
              <a:t> dung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tập</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cơ</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chế</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theo</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dõi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tiến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độ</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mô</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hình</a:t>
            </a:r>
            <a:r>
              <a:rPr lang="en-US" sz="3000" spc="300" dirty="0">
                <a:solidFill>
                  <a:srgbClr val="000000"/>
                </a:solidFill>
                <a:latin typeface="Tinos"/>
                <a:ea typeface="Tinos"/>
                <a:cs typeface="Tinos"/>
                <a:sym typeface="Tinos"/>
              </a:rPr>
              <a:t> game </a:t>
            </a:r>
            <a:r>
              <a:rPr lang="en-US" sz="3000" spc="300" dirty="0" err="1">
                <a:solidFill>
                  <a:srgbClr val="000000"/>
                </a:solidFill>
                <a:latin typeface="Tinos"/>
                <a:ea typeface="Tinos"/>
                <a:cs typeface="Tinos"/>
                <a:sym typeface="Tinos"/>
              </a:rPr>
              <a:t>hóa</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các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kỹ</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thuật</a:t>
            </a:r>
            <a:r>
              <a:rPr lang="en-US" sz="3000" spc="300" dirty="0">
                <a:solidFill>
                  <a:srgbClr val="000000"/>
                </a:solidFill>
                <a:latin typeface="Tinos"/>
                <a:ea typeface="Tinos"/>
                <a:cs typeface="Tinos"/>
                <a:sym typeface="Tinos"/>
              </a:rPr>
              <a:t> AI </a:t>
            </a:r>
            <a:r>
              <a:rPr lang="en-US" sz="3000" spc="300" dirty="0" err="1">
                <a:solidFill>
                  <a:srgbClr val="000000"/>
                </a:solidFill>
                <a:latin typeface="Tinos"/>
                <a:ea typeface="Tinos"/>
                <a:cs typeface="Tinos"/>
                <a:sym typeface="Tinos"/>
              </a:rPr>
              <a:t>hỗ</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trợ</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nói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viết</a:t>
            </a:r>
            <a:r>
              <a:rPr lang="en-US" sz="3000" spc="300" dirty="0">
                <a:solidFill>
                  <a:srgbClr val="000000"/>
                </a:solidFill>
                <a:latin typeface="Tinos"/>
                <a:ea typeface="Tinos"/>
                <a:cs typeface="Tinos"/>
                <a:sym typeface="Tino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a:solidFill>
                    <a:srgbClr val="FFFFFF"/>
                  </a:solidFill>
                  <a:latin typeface="Kelvinch"/>
                  <a:ea typeface="Kelvinch"/>
                  <a:cs typeface="Kelvinch"/>
                  <a:sym typeface="Kelvinch"/>
                </a:rPr>
                <a:t>4</a:t>
              </a:r>
            </a:p>
          </p:txBody>
        </p:sp>
      </p:grpSp>
      <p:sp>
        <p:nvSpPr>
          <p:cNvPr id="9" name="Freeform 9"/>
          <p:cNvSpPr/>
          <p:nvPr/>
        </p:nvSpPr>
        <p:spPr>
          <a:xfrm>
            <a:off x="3726804" y="2063602"/>
            <a:ext cx="11613172" cy="6912602"/>
          </a:xfrm>
          <a:custGeom>
            <a:avLst/>
            <a:gdLst/>
            <a:ahLst/>
            <a:cxnLst/>
            <a:rect l="l" t="t" r="r" b="b"/>
            <a:pathLst>
              <a:path w="11613172" h="6912602">
                <a:moveTo>
                  <a:pt x="0" y="0"/>
                </a:moveTo>
                <a:lnTo>
                  <a:pt x="11613172" y="0"/>
                </a:lnTo>
                <a:lnTo>
                  <a:pt x="11613172" y="6912602"/>
                </a:lnTo>
                <a:lnTo>
                  <a:pt x="0" y="6912602"/>
                </a:lnTo>
                <a:lnTo>
                  <a:pt x="0" y="0"/>
                </a:lnTo>
                <a:close/>
              </a:path>
            </a:pathLst>
          </a:custGeom>
          <a:blipFill>
            <a:blip r:embed="rId3"/>
            <a:stretch>
              <a:fillRect l="-25348" t="-778" r="-19145" b="-35767"/>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50521"/>
            <a:ext cx="18288000" cy="9852140"/>
          </a:xfrm>
          <a:custGeom>
            <a:avLst/>
            <a:gdLst/>
            <a:ahLst/>
            <a:cxnLst/>
            <a:rect l="l" t="t" r="r" b="b"/>
            <a:pathLst>
              <a:path w="18288000" h="9852140">
                <a:moveTo>
                  <a:pt x="0" y="0"/>
                </a:moveTo>
                <a:lnTo>
                  <a:pt x="18288000" y="0"/>
                </a:lnTo>
                <a:lnTo>
                  <a:pt x="18288000" y="9852140"/>
                </a:lnTo>
                <a:lnTo>
                  <a:pt x="0" y="9852140"/>
                </a:lnTo>
                <a:lnTo>
                  <a:pt x="0" y="0"/>
                </a:lnTo>
                <a:close/>
              </a:path>
            </a:pathLst>
          </a:custGeom>
          <a:blipFill>
            <a:blip r:embed="rId2"/>
            <a:stretch>
              <a:fillRect l="-1553" t="-7658" r="-1553"/>
            </a:stretch>
          </a:blipFill>
        </p:spPr>
      </p:sp>
      <p:grpSp>
        <p:nvGrpSpPr>
          <p:cNvPr id="3" name="Group 3"/>
          <p:cNvGrpSpPr/>
          <p:nvPr/>
        </p:nvGrpSpPr>
        <p:grpSpPr>
          <a:xfrm>
            <a:off x="-831074" y="0"/>
            <a:ext cx="19950149" cy="1398392"/>
            <a:chOff x="0" y="0"/>
            <a:chExt cx="5254360" cy="368301"/>
          </a:xfrm>
        </p:grpSpPr>
        <p:sp>
          <p:nvSpPr>
            <p:cNvPr id="4" name="Freeform 4"/>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5" name="TextBox 5"/>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6" name="Freeform 6"/>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3"/>
            <a:stretch>
              <a:fillRect/>
            </a:stretch>
          </a:blipFill>
        </p:spPr>
      </p:sp>
      <p:grpSp>
        <p:nvGrpSpPr>
          <p:cNvPr id="7" name="Group 7"/>
          <p:cNvGrpSpPr/>
          <p:nvPr/>
        </p:nvGrpSpPr>
        <p:grpSpPr>
          <a:xfrm>
            <a:off x="17438588" y="9501619"/>
            <a:ext cx="626028" cy="62602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9" name="TextBox 9"/>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5</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6</a:t>
              </a:r>
            </a:p>
          </p:txBody>
        </p:sp>
      </p:grpSp>
      <p:sp>
        <p:nvSpPr>
          <p:cNvPr id="9" name="Freeform 9"/>
          <p:cNvSpPr/>
          <p:nvPr/>
        </p:nvSpPr>
        <p:spPr>
          <a:xfrm>
            <a:off x="0" y="3041774"/>
            <a:ext cx="9441410" cy="5594910"/>
          </a:xfrm>
          <a:custGeom>
            <a:avLst/>
            <a:gdLst/>
            <a:ahLst/>
            <a:cxnLst/>
            <a:rect l="l" t="t" r="r" b="b"/>
            <a:pathLst>
              <a:path w="9441410" h="5594910">
                <a:moveTo>
                  <a:pt x="0" y="0"/>
                </a:moveTo>
                <a:lnTo>
                  <a:pt x="9441410" y="0"/>
                </a:lnTo>
                <a:lnTo>
                  <a:pt x="9441410" y="5594910"/>
                </a:lnTo>
                <a:lnTo>
                  <a:pt x="0" y="5594910"/>
                </a:lnTo>
                <a:lnTo>
                  <a:pt x="0" y="0"/>
                </a:lnTo>
                <a:close/>
              </a:path>
            </a:pathLst>
          </a:custGeom>
          <a:blipFill>
            <a:blip r:embed="rId3"/>
            <a:stretch>
              <a:fillRect l="-12384" t="-5361" r="-11338" b="-33826"/>
            </a:stretch>
          </a:blipFill>
        </p:spPr>
      </p:sp>
      <p:sp>
        <p:nvSpPr>
          <p:cNvPr id="10" name="TextBox 10"/>
          <p:cNvSpPr txBox="1"/>
          <p:nvPr/>
        </p:nvSpPr>
        <p:spPr>
          <a:xfrm>
            <a:off x="294999" y="1311399"/>
            <a:ext cx="9218334" cy="1044575"/>
          </a:xfrm>
          <a:prstGeom prst="rect">
            <a:avLst/>
          </a:prstGeom>
        </p:spPr>
        <p:txBody>
          <a:bodyPr lIns="0" tIns="0" rIns="0" bIns="0" rtlCol="0" anchor="t">
            <a:spAutoFit/>
          </a:bodyPr>
          <a:lstStyle/>
          <a:p>
            <a:pPr algn="l">
              <a:lnSpc>
                <a:spcPts val="9399"/>
              </a:lnSpc>
            </a:pPr>
            <a:r>
              <a:rPr lang="en-US" sz="3999" b="1">
                <a:solidFill>
                  <a:srgbClr val="000000"/>
                </a:solidFill>
                <a:latin typeface="Oswald Bold"/>
                <a:ea typeface="Oswald Bold"/>
                <a:cs typeface="Oswald Bold"/>
                <a:sym typeface="Oswald Bold"/>
              </a:rPr>
              <a:t>Hệ thống Gamification</a:t>
            </a:r>
          </a:p>
        </p:txBody>
      </p:sp>
      <p:sp>
        <p:nvSpPr>
          <p:cNvPr id="11" name="TextBox 11"/>
          <p:cNvSpPr txBox="1"/>
          <p:nvPr/>
        </p:nvSpPr>
        <p:spPr>
          <a:xfrm>
            <a:off x="9850492" y="2232149"/>
            <a:ext cx="7901110" cy="1758315"/>
          </a:xfrm>
          <a:prstGeom prst="rect">
            <a:avLst/>
          </a:prstGeom>
        </p:spPr>
        <p:txBody>
          <a:bodyPr lIns="0" tIns="0" rIns="0" bIns="0" rtlCol="0" anchor="t">
            <a:spAutoFit/>
          </a:bodyPr>
          <a:lstStyle/>
          <a:p>
            <a:pPr algn="l">
              <a:lnSpc>
                <a:spcPts val="4680"/>
              </a:lnSpc>
            </a:pPr>
            <a:endParaRPr/>
          </a:p>
          <a:p>
            <a:pPr algn="just">
              <a:lnSpc>
                <a:spcPts val="4680"/>
              </a:lnSpc>
              <a:spcBef>
                <a:spcPct val="0"/>
              </a:spcBef>
            </a:pPr>
            <a:r>
              <a:rPr lang="en-US" sz="3000" spc="300">
                <a:solidFill>
                  <a:srgbClr val="000000"/>
                </a:solidFill>
                <a:latin typeface="Tinos"/>
                <a:ea typeface="Tinos"/>
                <a:cs typeface="Tinos"/>
                <a:sym typeface="Tinos"/>
              </a:rPr>
              <a:t>Tăng động lực học tập, giúp người học duy trì thói quen học tiếng Anh mỗi ngày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7</a:t>
              </a:r>
            </a:p>
          </p:txBody>
        </p:sp>
      </p:grpSp>
      <p:sp>
        <p:nvSpPr>
          <p:cNvPr id="9" name="Freeform 9"/>
          <p:cNvSpPr/>
          <p:nvPr/>
        </p:nvSpPr>
        <p:spPr>
          <a:xfrm>
            <a:off x="7810365" y="1801429"/>
            <a:ext cx="10126335" cy="5107591"/>
          </a:xfrm>
          <a:custGeom>
            <a:avLst/>
            <a:gdLst/>
            <a:ahLst/>
            <a:cxnLst/>
            <a:rect l="l" t="t" r="r" b="b"/>
            <a:pathLst>
              <a:path w="10126335" h="5107591">
                <a:moveTo>
                  <a:pt x="0" y="0"/>
                </a:moveTo>
                <a:lnTo>
                  <a:pt x="10126336" y="0"/>
                </a:lnTo>
                <a:lnTo>
                  <a:pt x="10126336" y="5107591"/>
                </a:lnTo>
                <a:lnTo>
                  <a:pt x="0" y="5107591"/>
                </a:lnTo>
                <a:lnTo>
                  <a:pt x="0" y="0"/>
                </a:lnTo>
                <a:close/>
              </a:path>
            </a:pathLst>
          </a:custGeom>
          <a:blipFill>
            <a:blip r:embed="rId3"/>
            <a:stretch>
              <a:fillRect l="-3113" t="-14994"/>
            </a:stretch>
          </a:blipFill>
        </p:spPr>
      </p:sp>
      <p:sp>
        <p:nvSpPr>
          <p:cNvPr id="10" name="TextBox 10"/>
          <p:cNvSpPr txBox="1"/>
          <p:nvPr/>
        </p:nvSpPr>
        <p:spPr>
          <a:xfrm>
            <a:off x="294999" y="1625724"/>
            <a:ext cx="7049163" cy="6482715"/>
          </a:xfrm>
          <a:prstGeom prst="rect">
            <a:avLst/>
          </a:prstGeom>
        </p:spPr>
        <p:txBody>
          <a:bodyPr lIns="0" tIns="0" rIns="0" bIns="0" rtlCol="0" anchor="t">
            <a:spAutoFit/>
          </a:bodyPr>
          <a:lstStyle/>
          <a:p>
            <a:pPr algn="just">
              <a:lnSpc>
                <a:spcPts val="4680"/>
              </a:lnSpc>
            </a:pPr>
            <a:r>
              <a:rPr lang="en-US" sz="3000" b="1" spc="300">
                <a:solidFill>
                  <a:srgbClr val="000000"/>
                </a:solidFill>
                <a:latin typeface="Tinos Bold"/>
                <a:ea typeface="Tinos Bold"/>
                <a:cs typeface="Tinos Bold"/>
                <a:sym typeface="Tinos Bold"/>
              </a:rPr>
              <a:t>Thuật toán SM2 (SuperMemo-2) là thuật toán lặp lại ngắt quãng (Spaced Repetition) phổ biến nhất</a:t>
            </a:r>
          </a:p>
          <a:p>
            <a:pPr algn="just">
              <a:lnSpc>
                <a:spcPts val="4680"/>
              </a:lnSpc>
            </a:pPr>
            <a:endParaRPr lang="en-US" sz="3000" b="1" spc="300">
              <a:solidFill>
                <a:srgbClr val="000000"/>
              </a:solidFill>
              <a:latin typeface="Tinos Bold"/>
              <a:ea typeface="Tinos Bold"/>
              <a:cs typeface="Tinos Bold"/>
              <a:sym typeface="Tinos Bold"/>
            </a:endParaRPr>
          </a:p>
          <a:p>
            <a:pPr algn="just">
              <a:lnSpc>
                <a:spcPts val="4680"/>
              </a:lnSpc>
            </a:pPr>
            <a:r>
              <a:rPr lang="en-US" sz="3000" spc="300">
                <a:solidFill>
                  <a:srgbClr val="000000"/>
                </a:solidFill>
                <a:latin typeface="Tinos"/>
                <a:ea typeface="Tinos"/>
                <a:cs typeface="Tinos"/>
                <a:sym typeface="Tinos"/>
              </a:rPr>
              <a:t> Dùng để xác định thời điểm người học nên ôn lại kiến thức. Sau mỗi lần học, hệ thống dựa vào điểm số để đánh giá mức độ ghi nhớ, sau đó điều chỉnh khoảng cách ôn tập tiếp theo. </a:t>
            </a:r>
          </a:p>
          <a:p>
            <a:pPr algn="l">
              <a:lnSpc>
                <a:spcPts val="4680"/>
              </a:lnSpc>
            </a:pPr>
            <a:endParaRPr lang="en-US" sz="3000" spc="300">
              <a:solidFill>
                <a:srgbClr val="000000"/>
              </a:solidFill>
              <a:latin typeface="Tinos"/>
              <a:ea typeface="Tinos"/>
              <a:cs typeface="Tinos"/>
              <a:sym typeface="Tinos"/>
            </a:endParaRPr>
          </a:p>
        </p:txBody>
      </p:sp>
      <p:sp>
        <p:nvSpPr>
          <p:cNvPr id="11" name="TextBox 11"/>
          <p:cNvSpPr txBox="1"/>
          <p:nvPr/>
        </p:nvSpPr>
        <p:spPr>
          <a:xfrm>
            <a:off x="7810365" y="7188232"/>
            <a:ext cx="8613640" cy="2939415"/>
          </a:xfrm>
          <a:prstGeom prst="rect">
            <a:avLst/>
          </a:prstGeom>
        </p:spPr>
        <p:txBody>
          <a:bodyPr lIns="0" tIns="0" rIns="0" bIns="0" rtlCol="0" anchor="t">
            <a:spAutoFit/>
          </a:bodyPr>
          <a:lstStyle/>
          <a:p>
            <a:pPr algn="just">
              <a:lnSpc>
                <a:spcPts val="4680"/>
              </a:lnSpc>
            </a:pPr>
            <a:r>
              <a:rPr lang="en-US" sz="3000" b="1" spc="300">
                <a:solidFill>
                  <a:srgbClr val="000000"/>
                </a:solidFill>
                <a:latin typeface="Tinos Bold"/>
                <a:ea typeface="Tinos Bold"/>
                <a:cs typeface="Tinos Bold"/>
                <a:sym typeface="Tinos Bold"/>
              </a:rPr>
              <a:t>SM-2 được sử dụng rộng rãi trong nhiều ứng dụng miễn phí phổ biến như Anki, Mnemosyne, Emacs Org-mode's Org-drill…</a:t>
            </a:r>
          </a:p>
          <a:p>
            <a:pPr algn="l">
              <a:lnSpc>
                <a:spcPts val="4680"/>
              </a:lnSpc>
            </a:pPr>
            <a:endParaRPr lang="en-US" sz="3000" b="1" spc="300">
              <a:solidFill>
                <a:srgbClr val="000000"/>
              </a:solidFill>
              <a:latin typeface="Tinos Bold"/>
              <a:ea typeface="Tinos Bold"/>
              <a:cs typeface="Tinos Bold"/>
              <a:sym typeface="Tino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8</a:t>
              </a:r>
            </a:p>
          </p:txBody>
        </p:sp>
      </p:grpSp>
      <p:sp>
        <p:nvSpPr>
          <p:cNvPr id="9" name="Freeform 9"/>
          <p:cNvSpPr/>
          <p:nvPr/>
        </p:nvSpPr>
        <p:spPr>
          <a:xfrm>
            <a:off x="294999" y="5143500"/>
            <a:ext cx="13658877" cy="4766076"/>
          </a:xfrm>
          <a:custGeom>
            <a:avLst/>
            <a:gdLst/>
            <a:ahLst/>
            <a:cxnLst/>
            <a:rect l="l" t="t" r="r" b="b"/>
            <a:pathLst>
              <a:path w="13658877" h="4766076">
                <a:moveTo>
                  <a:pt x="0" y="0"/>
                </a:moveTo>
                <a:lnTo>
                  <a:pt x="13658877" y="0"/>
                </a:lnTo>
                <a:lnTo>
                  <a:pt x="13658877" y="4766076"/>
                </a:lnTo>
                <a:lnTo>
                  <a:pt x="0" y="4766076"/>
                </a:lnTo>
                <a:lnTo>
                  <a:pt x="0" y="0"/>
                </a:lnTo>
                <a:close/>
              </a:path>
            </a:pathLst>
          </a:custGeom>
          <a:blipFill>
            <a:blip r:embed="rId3"/>
            <a:stretch>
              <a:fillRect l="-873" t="-29037" r="-657" b="-34634"/>
            </a:stretch>
          </a:blipFill>
        </p:spPr>
      </p:sp>
      <p:sp>
        <p:nvSpPr>
          <p:cNvPr id="10" name="TextBox 10"/>
          <p:cNvSpPr txBox="1"/>
          <p:nvPr/>
        </p:nvSpPr>
        <p:spPr>
          <a:xfrm>
            <a:off x="294999" y="1311399"/>
            <a:ext cx="7323352" cy="1044575"/>
          </a:xfrm>
          <a:prstGeom prst="rect">
            <a:avLst/>
          </a:prstGeom>
        </p:spPr>
        <p:txBody>
          <a:bodyPr lIns="0" tIns="0" rIns="0" bIns="0" rtlCol="0" anchor="t">
            <a:spAutoFit/>
          </a:bodyPr>
          <a:lstStyle/>
          <a:p>
            <a:pPr algn="l">
              <a:lnSpc>
                <a:spcPts val="9399"/>
              </a:lnSpc>
            </a:pPr>
            <a:r>
              <a:rPr lang="en-US" sz="3999" b="1">
                <a:solidFill>
                  <a:srgbClr val="000000"/>
                </a:solidFill>
                <a:latin typeface="Oswald Bold"/>
                <a:ea typeface="Oswald Bold"/>
                <a:cs typeface="Oswald Bold"/>
                <a:sym typeface="Oswald Bold"/>
              </a:rPr>
              <a:t>Nhận diện giọng nói với Whisper</a:t>
            </a:r>
          </a:p>
        </p:txBody>
      </p:sp>
      <p:sp>
        <p:nvSpPr>
          <p:cNvPr id="11" name="TextBox 11"/>
          <p:cNvSpPr txBox="1"/>
          <p:nvPr/>
        </p:nvSpPr>
        <p:spPr>
          <a:xfrm>
            <a:off x="294999" y="2584574"/>
            <a:ext cx="13091029" cy="3529965"/>
          </a:xfrm>
          <a:prstGeom prst="rect">
            <a:avLst/>
          </a:prstGeom>
        </p:spPr>
        <p:txBody>
          <a:bodyPr lIns="0" tIns="0" rIns="0" bIns="0" rtlCol="0" anchor="t">
            <a:spAutoFit/>
          </a:bodyPr>
          <a:lstStyle/>
          <a:p>
            <a:pPr algn="just">
              <a:lnSpc>
                <a:spcPts val="4680"/>
              </a:lnSpc>
            </a:pPr>
            <a:r>
              <a:rPr lang="en-US" sz="3000" spc="300">
                <a:solidFill>
                  <a:srgbClr val="000000"/>
                </a:solidFill>
                <a:latin typeface="Tinos"/>
                <a:ea typeface="Tinos"/>
                <a:cs typeface="Tinos"/>
                <a:sym typeface="Tinos"/>
              </a:rPr>
              <a:t>Whisper giúp chuyển giọng nói của người học thành văn bản để hệ thống có thể phân tích và chấm điểm phát âm.</a:t>
            </a:r>
          </a:p>
          <a:p>
            <a:pPr algn="just">
              <a:lnSpc>
                <a:spcPts val="4680"/>
              </a:lnSpc>
            </a:pPr>
            <a:r>
              <a:rPr lang="en-US" sz="3000" spc="300">
                <a:solidFill>
                  <a:srgbClr val="000000"/>
                </a:solidFill>
                <a:latin typeface="Tinos"/>
                <a:ea typeface="Tinos"/>
                <a:cs typeface="Tinos"/>
                <a:sym typeface="Tinos"/>
              </a:rPr>
              <a:t>Quy trình xử lý gồm 5 bước chính:</a:t>
            </a:r>
          </a:p>
          <a:p>
            <a:pPr algn="just">
              <a:lnSpc>
                <a:spcPts val="4680"/>
              </a:lnSpc>
            </a:pPr>
            <a:r>
              <a:rPr lang="en-US" sz="3000" spc="300">
                <a:solidFill>
                  <a:srgbClr val="000000"/>
                </a:solidFill>
                <a:latin typeface="Tinos"/>
                <a:ea typeface="Tinos"/>
                <a:cs typeface="Tinos"/>
                <a:sym typeface="Tinos"/>
              </a:rPr>
              <a:t>Audio → Backend → Whisper → Transcript → Score</a:t>
            </a:r>
          </a:p>
          <a:p>
            <a:pPr algn="just">
              <a:lnSpc>
                <a:spcPts val="4680"/>
              </a:lnSpc>
            </a:pPr>
            <a:endParaRPr lang="en-US" sz="3000" spc="300">
              <a:solidFill>
                <a:srgbClr val="000000"/>
              </a:solidFill>
              <a:latin typeface="Tinos"/>
              <a:ea typeface="Tinos"/>
              <a:cs typeface="Tinos"/>
              <a:sym typeface="Tinos"/>
            </a:endParaRPr>
          </a:p>
          <a:p>
            <a:pPr algn="just">
              <a:lnSpc>
                <a:spcPts val="4680"/>
              </a:lnSpc>
            </a:pPr>
            <a:endParaRPr lang="en-US" sz="3000" spc="300">
              <a:solidFill>
                <a:srgbClr val="000000"/>
              </a:solidFill>
              <a:latin typeface="Tinos"/>
              <a:ea typeface="Tinos"/>
              <a:cs typeface="Tinos"/>
              <a:sym typeface="Tin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9</a:t>
              </a:r>
            </a:p>
          </p:txBody>
        </p:sp>
      </p:grpSp>
      <p:sp>
        <p:nvSpPr>
          <p:cNvPr id="9" name="Freeform 9"/>
          <p:cNvSpPr/>
          <p:nvPr/>
        </p:nvSpPr>
        <p:spPr>
          <a:xfrm>
            <a:off x="7694597" y="1398392"/>
            <a:ext cx="10057004" cy="6782910"/>
          </a:xfrm>
          <a:custGeom>
            <a:avLst/>
            <a:gdLst/>
            <a:ahLst/>
            <a:cxnLst/>
            <a:rect l="l" t="t" r="r" b="b"/>
            <a:pathLst>
              <a:path w="10057004" h="6782910">
                <a:moveTo>
                  <a:pt x="0" y="0"/>
                </a:moveTo>
                <a:lnTo>
                  <a:pt x="10057005" y="0"/>
                </a:lnTo>
                <a:lnTo>
                  <a:pt x="10057005" y="6782910"/>
                </a:lnTo>
                <a:lnTo>
                  <a:pt x="0" y="6782910"/>
                </a:lnTo>
                <a:lnTo>
                  <a:pt x="0" y="0"/>
                </a:lnTo>
                <a:close/>
              </a:path>
            </a:pathLst>
          </a:custGeom>
          <a:blipFill>
            <a:blip r:embed="rId3"/>
            <a:stretch>
              <a:fillRect t="-11202"/>
            </a:stretch>
          </a:blipFill>
        </p:spPr>
      </p:sp>
      <p:sp>
        <p:nvSpPr>
          <p:cNvPr id="10" name="TextBox 10"/>
          <p:cNvSpPr txBox="1"/>
          <p:nvPr/>
        </p:nvSpPr>
        <p:spPr>
          <a:xfrm>
            <a:off x="294999" y="1311399"/>
            <a:ext cx="7323352" cy="1044575"/>
          </a:xfrm>
          <a:prstGeom prst="rect">
            <a:avLst/>
          </a:prstGeom>
        </p:spPr>
        <p:txBody>
          <a:bodyPr lIns="0" tIns="0" rIns="0" bIns="0" rtlCol="0" anchor="t">
            <a:spAutoFit/>
          </a:bodyPr>
          <a:lstStyle/>
          <a:p>
            <a:pPr algn="l">
              <a:lnSpc>
                <a:spcPts val="9399"/>
              </a:lnSpc>
            </a:pPr>
            <a:r>
              <a:rPr lang="en-US" sz="3999" b="1">
                <a:solidFill>
                  <a:srgbClr val="000000"/>
                </a:solidFill>
                <a:latin typeface="Oswald Bold"/>
                <a:ea typeface="Oswald Bold"/>
                <a:cs typeface="Oswald Bold"/>
                <a:sym typeface="Oswald Bold"/>
              </a:rPr>
              <a:t>Kiến trúc tổng thể cơ sở dữ liệu</a:t>
            </a:r>
          </a:p>
        </p:txBody>
      </p:sp>
      <p:sp>
        <p:nvSpPr>
          <p:cNvPr id="11" name="TextBox 11"/>
          <p:cNvSpPr txBox="1"/>
          <p:nvPr/>
        </p:nvSpPr>
        <p:spPr>
          <a:xfrm>
            <a:off x="511569" y="2372402"/>
            <a:ext cx="6475198" cy="5301615"/>
          </a:xfrm>
          <a:prstGeom prst="rect">
            <a:avLst/>
          </a:prstGeom>
        </p:spPr>
        <p:txBody>
          <a:bodyPr lIns="0" tIns="0" rIns="0" bIns="0" rtlCol="0" anchor="t">
            <a:spAutoFit/>
          </a:bodyPr>
          <a:lstStyle/>
          <a:p>
            <a:pPr algn="just">
              <a:lnSpc>
                <a:spcPts val="4680"/>
              </a:lnSpc>
            </a:pPr>
            <a:r>
              <a:rPr lang="en-US" sz="3000" spc="300">
                <a:solidFill>
                  <a:srgbClr val="000000"/>
                </a:solidFill>
                <a:latin typeface="Tinos"/>
                <a:ea typeface="Tinos"/>
                <a:cs typeface="Tinos"/>
                <a:sym typeface="Tinos"/>
              </a:rPr>
              <a:t>Database được chia theo các nhóm nghiệp vụ chính: người dùng, nội dung học, tiến trình, nhiệm vụ hằng ngày, ôn tập, mini game, thanh toán Plus và từ vựng. Cách thiết kế này giúp dữ liệu rõ ràng, dễ quản lý và hỗ trợ theo dõi quá trình học của từng người dùng.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TRIỂN KHAI &amp; VẬN HÀNH</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txBody>
            <a:bodyPr/>
            <a:lstStyle/>
            <a:p>
              <a:endParaRPr lang="en-US" dirty="0"/>
            </a:p>
          </p:txBody>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10</a:t>
              </a:r>
            </a:p>
          </p:txBody>
        </p:sp>
      </p:grpSp>
      <p:sp>
        <p:nvSpPr>
          <p:cNvPr id="9" name="Freeform 9"/>
          <p:cNvSpPr/>
          <p:nvPr/>
        </p:nvSpPr>
        <p:spPr>
          <a:xfrm>
            <a:off x="10132595" y="1562906"/>
            <a:ext cx="6543071" cy="8724094"/>
          </a:xfrm>
          <a:custGeom>
            <a:avLst/>
            <a:gdLst/>
            <a:ahLst/>
            <a:cxnLst/>
            <a:rect l="l" t="t" r="r" b="b"/>
            <a:pathLst>
              <a:path w="6543071" h="8724094">
                <a:moveTo>
                  <a:pt x="0" y="0"/>
                </a:moveTo>
                <a:lnTo>
                  <a:pt x="6543070" y="0"/>
                </a:lnTo>
                <a:lnTo>
                  <a:pt x="6543070" y="8724094"/>
                </a:lnTo>
                <a:lnTo>
                  <a:pt x="0" y="8724094"/>
                </a:lnTo>
                <a:lnTo>
                  <a:pt x="0" y="0"/>
                </a:lnTo>
                <a:close/>
              </a:path>
            </a:pathLst>
          </a:custGeom>
          <a:blipFill>
            <a:blip r:embed="rId3"/>
            <a:stretch>
              <a:fillRect/>
            </a:stretch>
          </a:blipFill>
        </p:spPr>
      </p:sp>
      <p:sp>
        <p:nvSpPr>
          <p:cNvPr id="10" name="TextBox 10"/>
          <p:cNvSpPr txBox="1"/>
          <p:nvPr/>
        </p:nvSpPr>
        <p:spPr>
          <a:xfrm>
            <a:off x="294999" y="2584574"/>
            <a:ext cx="8474947" cy="5892165"/>
          </a:xfrm>
          <a:prstGeom prst="rect">
            <a:avLst/>
          </a:prstGeom>
        </p:spPr>
        <p:txBody>
          <a:bodyPr lIns="0" tIns="0" rIns="0" bIns="0" rtlCol="0" anchor="t">
            <a:spAutoFit/>
          </a:bodyPr>
          <a:lstStyle/>
          <a:p>
            <a:pPr algn="just">
              <a:lnSpc>
                <a:spcPts val="4680"/>
              </a:lnSpc>
            </a:pPr>
            <a:r>
              <a:rPr lang="en-US" sz="3000" spc="300">
                <a:solidFill>
                  <a:srgbClr val="000000"/>
                </a:solidFill>
                <a:latin typeface="Tinos"/>
                <a:ea typeface="Tinos"/>
                <a:cs typeface="Tinos"/>
                <a:sym typeface="Tinos"/>
              </a:rPr>
              <a:t>Hệ thống được triển khai tách riêng frontend, backend, database và dịch vụ AI. </a:t>
            </a:r>
          </a:p>
          <a:p>
            <a:pPr algn="just">
              <a:lnSpc>
                <a:spcPts val="4680"/>
              </a:lnSpc>
            </a:pPr>
            <a:r>
              <a:rPr lang="en-US" sz="3000" spc="300">
                <a:solidFill>
                  <a:srgbClr val="000000"/>
                </a:solidFill>
                <a:latin typeface="Tinos"/>
                <a:ea typeface="Tinos"/>
                <a:cs typeface="Tinos"/>
                <a:sym typeface="Tinos"/>
              </a:rPr>
              <a:t>Frontend chạy trên Vercel, backend và PostgreSQL chạy trên Railway, Whisper Service xử lý nhận diện giọng nói bằng Python Flask và faster-whisper. </a:t>
            </a:r>
          </a:p>
          <a:p>
            <a:pPr algn="just">
              <a:lnSpc>
                <a:spcPts val="4680"/>
              </a:lnSpc>
            </a:pPr>
            <a:r>
              <a:rPr lang="en-US" sz="3000" spc="300">
                <a:solidFill>
                  <a:srgbClr val="000000"/>
                </a:solidFill>
                <a:latin typeface="Tinos"/>
                <a:ea typeface="Tinos"/>
                <a:cs typeface="Tinos"/>
                <a:sym typeface="Tinos"/>
              </a:rPr>
              <a:t>Các dịch vụ ngoài như OpenAI, SePay, SMTP, Cloudinary được cấu hình qua biến môi trường, giúp hệ thống dễ bảo trì và mở rộng.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DEMO</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11</a:t>
              </a:r>
            </a:p>
          </p:txBody>
        </p:sp>
      </p:grpSp>
      <p:sp>
        <p:nvSpPr>
          <p:cNvPr id="9" name="Freeform 9"/>
          <p:cNvSpPr/>
          <p:nvPr/>
        </p:nvSpPr>
        <p:spPr>
          <a:xfrm>
            <a:off x="859351" y="2307556"/>
            <a:ext cx="15685513" cy="6950744"/>
          </a:xfrm>
          <a:custGeom>
            <a:avLst/>
            <a:gdLst/>
            <a:ahLst/>
            <a:cxnLst/>
            <a:rect l="l" t="t" r="r" b="b"/>
            <a:pathLst>
              <a:path w="15685513" h="6950744">
                <a:moveTo>
                  <a:pt x="0" y="0"/>
                </a:moveTo>
                <a:lnTo>
                  <a:pt x="15685512" y="0"/>
                </a:lnTo>
                <a:lnTo>
                  <a:pt x="15685512" y="6950744"/>
                </a:lnTo>
                <a:lnTo>
                  <a:pt x="0" y="6950744"/>
                </a:lnTo>
                <a:lnTo>
                  <a:pt x="0" y="0"/>
                </a:lnTo>
                <a:close/>
              </a:path>
            </a:pathLst>
          </a:custGeom>
          <a:blipFill>
            <a:blip r:embed="rId3"/>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KẾT LUẬN</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12</a:t>
              </a:r>
            </a:p>
          </p:txBody>
        </p:sp>
      </p:grpSp>
      <p:sp>
        <p:nvSpPr>
          <p:cNvPr id="9" name="TextBox 9"/>
          <p:cNvSpPr txBox="1"/>
          <p:nvPr/>
        </p:nvSpPr>
        <p:spPr>
          <a:xfrm>
            <a:off x="294999" y="2189574"/>
            <a:ext cx="16964301" cy="6703697"/>
          </a:xfrm>
          <a:prstGeom prst="rect">
            <a:avLst/>
          </a:prstGeom>
        </p:spPr>
        <p:txBody>
          <a:bodyPr lIns="0" tIns="0" rIns="0" bIns="0" rtlCol="0" anchor="t">
            <a:spAutoFit/>
          </a:bodyPr>
          <a:lstStyle/>
          <a:p>
            <a:pPr algn="just">
              <a:lnSpc>
                <a:spcPts val="5939"/>
              </a:lnSpc>
            </a:pPr>
            <a:r>
              <a:rPr lang="en-US" sz="2999" b="1" dirty="0">
                <a:solidFill>
                  <a:srgbClr val="000000"/>
                </a:solidFill>
                <a:latin typeface="Oswald Bold"/>
                <a:ea typeface="Oswald Bold"/>
                <a:cs typeface="Oswald Bold"/>
                <a:sym typeface="Oswald Bold"/>
              </a:rPr>
              <a:t>KẾT QUẢ ĐẠT ĐƯỢC:</a:t>
            </a:r>
          </a:p>
          <a:p>
            <a:pPr marL="647695" lvl="1" indent="-323848" algn="just">
              <a:lnSpc>
                <a:spcPts val="5939"/>
              </a:lnSpc>
              <a:buFont typeface="Arial"/>
              <a:buChar char="•"/>
            </a:pP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Vận</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dụng</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được</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kiến</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thức</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về</a:t>
            </a:r>
            <a:r>
              <a:rPr lang="en-US" sz="2999" dirty="0">
                <a:solidFill>
                  <a:srgbClr val="000000"/>
                </a:solidFill>
                <a:latin typeface="Tinos"/>
                <a:ea typeface="Tinos"/>
                <a:cs typeface="Tinos"/>
                <a:sym typeface="Tinos"/>
              </a:rPr>
              <a:t> web client-server, RESTful API, PostgreSQL, JWT, </a:t>
            </a:r>
            <a:r>
              <a:rPr lang="en-US" sz="2999" dirty="0" err="1">
                <a:solidFill>
                  <a:srgbClr val="000000"/>
                </a:solidFill>
                <a:latin typeface="Tinos"/>
                <a:ea typeface="Tinos"/>
                <a:cs typeface="Tinos"/>
                <a:sym typeface="Tinos"/>
              </a:rPr>
              <a:t>bcrypt</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và</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phân</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quyền</a:t>
            </a:r>
            <a:r>
              <a:rPr lang="en-US" sz="2999" dirty="0">
                <a:solidFill>
                  <a:srgbClr val="000000"/>
                </a:solidFill>
                <a:latin typeface="Tinos"/>
                <a:ea typeface="Tinos"/>
                <a:cs typeface="Tinos"/>
                <a:sym typeface="Tinos"/>
              </a:rPr>
              <a:t> user/admin.</a:t>
            </a:r>
          </a:p>
          <a:p>
            <a:pPr marL="647695" lvl="1" indent="-323848" algn="just">
              <a:lnSpc>
                <a:spcPts val="5939"/>
              </a:lnSpc>
              <a:buFont typeface="Arial"/>
              <a:buChar char="•"/>
            </a:pPr>
            <a:r>
              <a:rPr lang="en-US" sz="2999" dirty="0" err="1">
                <a:solidFill>
                  <a:srgbClr val="000000"/>
                </a:solidFill>
                <a:latin typeface="Tinos"/>
                <a:ea typeface="Tinos"/>
                <a:cs typeface="Tinos"/>
                <a:sym typeface="Tinos"/>
              </a:rPr>
              <a:t>Áp</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dụng</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các</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kỹ</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thuật</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học</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ngoại</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ngữ</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như</a:t>
            </a:r>
            <a:r>
              <a:rPr lang="en-US" sz="2999" dirty="0">
                <a:solidFill>
                  <a:srgbClr val="000000"/>
                </a:solidFill>
                <a:latin typeface="Tinos"/>
                <a:ea typeface="Tinos"/>
                <a:cs typeface="Tinos"/>
                <a:sym typeface="Tinos"/>
              </a:rPr>
              <a:t> Spaced Repetition, gamification, Whisper </a:t>
            </a:r>
            <a:r>
              <a:rPr lang="en-US" sz="2999" dirty="0" err="1">
                <a:solidFill>
                  <a:srgbClr val="000000"/>
                </a:solidFill>
                <a:latin typeface="Tinos"/>
                <a:ea typeface="Tinos"/>
                <a:cs typeface="Tinos"/>
                <a:sym typeface="Tinos"/>
              </a:rPr>
              <a:t>và</a:t>
            </a:r>
            <a:r>
              <a:rPr lang="en-US" sz="2999" dirty="0">
                <a:solidFill>
                  <a:srgbClr val="000000"/>
                </a:solidFill>
                <a:latin typeface="Tinos"/>
                <a:ea typeface="Tinos"/>
                <a:cs typeface="Tinos"/>
                <a:sym typeface="Tinos"/>
              </a:rPr>
              <a:t> AI.</a:t>
            </a:r>
          </a:p>
          <a:p>
            <a:pPr marL="647695" lvl="1" indent="-323848" algn="just">
              <a:lnSpc>
                <a:spcPts val="5939"/>
              </a:lnSpc>
              <a:buFont typeface="Arial"/>
              <a:buChar char="•"/>
            </a:pPr>
            <a:r>
              <a:rPr lang="en-US" sz="2999" dirty="0" err="1">
                <a:solidFill>
                  <a:srgbClr val="000000"/>
                </a:solidFill>
                <a:latin typeface="Tinos"/>
                <a:ea typeface="Tinos"/>
                <a:cs typeface="Tinos"/>
                <a:sym typeface="Tinos"/>
              </a:rPr>
              <a:t>Xây</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dựng</a:t>
            </a:r>
            <a:r>
              <a:rPr lang="en-US" sz="2999" dirty="0">
                <a:solidFill>
                  <a:srgbClr val="000000"/>
                </a:solidFill>
                <a:latin typeface="Tinos"/>
                <a:ea typeface="Tinos"/>
                <a:cs typeface="Tinos"/>
                <a:sym typeface="Tinos"/>
              </a:rPr>
              <a:t> website </a:t>
            </a:r>
            <a:r>
              <a:rPr lang="en-US" sz="2999" dirty="0" err="1">
                <a:solidFill>
                  <a:srgbClr val="000000"/>
                </a:solidFill>
                <a:latin typeface="Tinos"/>
                <a:ea typeface="Tinos"/>
                <a:cs typeface="Tinos"/>
                <a:sym typeface="Tinos"/>
              </a:rPr>
              <a:t>LingoConnect</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trực</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quan</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dễ</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sử</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dụng</a:t>
            </a:r>
            <a:endParaRPr lang="en-US" sz="2999" dirty="0">
              <a:solidFill>
                <a:srgbClr val="000000"/>
              </a:solidFill>
              <a:latin typeface="Tinos"/>
              <a:ea typeface="Tinos"/>
              <a:cs typeface="Tinos"/>
              <a:sym typeface="Tinos"/>
            </a:endParaRPr>
          </a:p>
          <a:p>
            <a:pPr marL="647695" lvl="1" indent="-323848" algn="just">
              <a:lnSpc>
                <a:spcPts val="5939"/>
              </a:lnSpc>
              <a:buFont typeface="Arial"/>
              <a:buChar char="•"/>
            </a:pP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Tích</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hợp</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các</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chức</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năng</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nâng</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cao</a:t>
            </a:r>
            <a:r>
              <a:rPr lang="en-US" sz="2999" dirty="0">
                <a:solidFill>
                  <a:srgbClr val="000000"/>
                </a:solidFill>
                <a:latin typeface="Tinos"/>
                <a:ea typeface="Tinos"/>
                <a:cs typeface="Tinos"/>
                <a:sym typeface="Tinos"/>
              </a:rPr>
              <a:t>: Speaking AI, Writing AI, </a:t>
            </a:r>
            <a:r>
              <a:rPr lang="en-US" sz="2999" dirty="0" err="1">
                <a:solidFill>
                  <a:srgbClr val="000000"/>
                </a:solidFill>
                <a:latin typeface="Tinos"/>
                <a:ea typeface="Tinos"/>
                <a:cs typeface="Tinos"/>
                <a:sym typeface="Tinos"/>
              </a:rPr>
              <a:t>gói</a:t>
            </a:r>
            <a:r>
              <a:rPr lang="en-US" sz="2999" dirty="0">
                <a:solidFill>
                  <a:srgbClr val="000000"/>
                </a:solidFill>
                <a:latin typeface="Tinos"/>
                <a:ea typeface="Tinos"/>
                <a:cs typeface="Tinos"/>
                <a:sym typeface="Tinos"/>
              </a:rPr>
              <a:t> Plus, </a:t>
            </a:r>
            <a:r>
              <a:rPr lang="en-US" sz="2999" dirty="0" err="1">
                <a:solidFill>
                  <a:srgbClr val="000000"/>
                </a:solidFill>
                <a:latin typeface="Tinos"/>
                <a:ea typeface="Tinos"/>
                <a:cs typeface="Tinos"/>
                <a:sym typeface="Tinos"/>
              </a:rPr>
              <a:t>thanh</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toán</a:t>
            </a:r>
            <a:r>
              <a:rPr lang="en-US" sz="2999" dirty="0">
                <a:solidFill>
                  <a:srgbClr val="000000"/>
                </a:solidFill>
                <a:latin typeface="Tinos"/>
                <a:ea typeface="Tinos"/>
                <a:cs typeface="Tinos"/>
                <a:sym typeface="Tinos"/>
              </a:rPr>
              <a:t>, email </a:t>
            </a:r>
            <a:r>
              <a:rPr lang="en-US" sz="2999" dirty="0" err="1">
                <a:solidFill>
                  <a:srgbClr val="000000"/>
                </a:solidFill>
                <a:latin typeface="Tinos"/>
                <a:ea typeface="Tinos"/>
                <a:cs typeface="Tinos"/>
                <a:sym typeface="Tinos"/>
              </a:rPr>
              <a:t>và</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hỗ</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trợ</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người</a:t>
            </a:r>
            <a:r>
              <a:rPr lang="en-US" sz="2999" dirty="0">
                <a:solidFill>
                  <a:srgbClr val="000000"/>
                </a:solidFill>
                <a:latin typeface="Tinos"/>
                <a:ea typeface="Tinos"/>
                <a:cs typeface="Tinos"/>
                <a:sym typeface="Tinos"/>
              </a:rPr>
              <a:t> </a:t>
            </a:r>
            <a:r>
              <a:rPr lang="en-US" sz="2999" dirty="0" err="1">
                <a:solidFill>
                  <a:srgbClr val="000000"/>
                </a:solidFill>
                <a:latin typeface="Tinos"/>
                <a:ea typeface="Tinos"/>
                <a:cs typeface="Tinos"/>
                <a:sym typeface="Tinos"/>
              </a:rPr>
              <a:t>dùng</a:t>
            </a:r>
            <a:r>
              <a:rPr lang="en-US" sz="2999" dirty="0">
                <a:solidFill>
                  <a:srgbClr val="000000"/>
                </a:solidFill>
                <a:latin typeface="Tinos"/>
                <a:ea typeface="Tinos"/>
                <a:cs typeface="Tinos"/>
                <a:sym typeface="Tinos"/>
              </a:rPr>
              <a:t>.</a:t>
            </a:r>
          </a:p>
          <a:p>
            <a:pPr algn="just">
              <a:lnSpc>
                <a:spcPts val="5939"/>
              </a:lnSpc>
            </a:pPr>
            <a:endParaRPr lang="en-US" sz="2999" dirty="0">
              <a:solidFill>
                <a:srgbClr val="000000"/>
              </a:solidFill>
              <a:latin typeface="Tinos"/>
              <a:ea typeface="Tinos"/>
              <a:cs typeface="Tinos"/>
              <a:sym typeface="Tinos"/>
            </a:endParaRPr>
          </a:p>
          <a:p>
            <a:pPr algn="just">
              <a:lnSpc>
                <a:spcPts val="5939"/>
              </a:lnSpc>
            </a:pPr>
            <a:endParaRPr lang="en-US" sz="2999" dirty="0">
              <a:solidFill>
                <a:srgbClr val="000000"/>
              </a:solidFill>
              <a:latin typeface="Tinos"/>
              <a:ea typeface="Tinos"/>
              <a:cs typeface="Tinos"/>
              <a:sym typeface="Tin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KẾT LUẬN</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13</a:t>
              </a:r>
            </a:p>
          </p:txBody>
        </p:sp>
      </p:grpSp>
      <p:sp>
        <p:nvSpPr>
          <p:cNvPr id="9" name="TextBox 9"/>
          <p:cNvSpPr txBox="1"/>
          <p:nvPr/>
        </p:nvSpPr>
        <p:spPr>
          <a:xfrm>
            <a:off x="349837" y="1887965"/>
            <a:ext cx="15970807" cy="4446272"/>
          </a:xfrm>
          <a:prstGeom prst="rect">
            <a:avLst/>
          </a:prstGeom>
        </p:spPr>
        <p:txBody>
          <a:bodyPr lIns="0" tIns="0" rIns="0" bIns="0" rtlCol="0" anchor="t">
            <a:spAutoFit/>
          </a:bodyPr>
          <a:lstStyle/>
          <a:p>
            <a:pPr algn="just">
              <a:lnSpc>
                <a:spcPts val="5939"/>
              </a:lnSpc>
            </a:pPr>
            <a:r>
              <a:rPr lang="en-US" sz="2999" b="1">
                <a:solidFill>
                  <a:srgbClr val="000000"/>
                </a:solidFill>
                <a:latin typeface="Oswald Bold"/>
                <a:ea typeface="Oswald Bold"/>
                <a:cs typeface="Oswald Bold"/>
                <a:sym typeface="Oswald Bold"/>
              </a:rPr>
              <a:t>HẠN CHẾ:</a:t>
            </a:r>
          </a:p>
          <a:p>
            <a:pPr marL="647695" lvl="1" indent="-323848" algn="just">
              <a:lnSpc>
                <a:spcPts val="5939"/>
              </a:lnSpc>
              <a:buFont typeface="Arial"/>
              <a:buChar char="•"/>
            </a:pPr>
            <a:r>
              <a:rPr lang="en-US" sz="2999">
                <a:solidFill>
                  <a:srgbClr val="000000"/>
                </a:solidFill>
                <a:latin typeface="Tinos"/>
                <a:ea typeface="Tinos"/>
                <a:cs typeface="Tinos"/>
                <a:sym typeface="Tinos"/>
              </a:rPr>
              <a:t> Chất lượng nhận diện giọng nói phụ thuộc vào micro, môi trường ghi âm và tài nguyên máy chủ.</a:t>
            </a:r>
          </a:p>
          <a:p>
            <a:pPr marL="647695" lvl="1" indent="-323848" algn="just">
              <a:lnSpc>
                <a:spcPts val="5939"/>
              </a:lnSpc>
              <a:buFont typeface="Arial"/>
              <a:buChar char="•"/>
            </a:pPr>
            <a:r>
              <a:rPr lang="en-US" sz="2999">
                <a:solidFill>
                  <a:srgbClr val="000000"/>
                </a:solidFill>
                <a:latin typeface="Tinos"/>
                <a:ea typeface="Tinos"/>
                <a:cs typeface="Tinos"/>
                <a:sym typeface="Tinos"/>
              </a:rPr>
              <a:t> Các chức năng AI phụ thuộc vào API bên ngoài, có thể bị ảnh hưởng bởi tốc độ mạng, giới hạn quota hoặc chi phí.</a:t>
            </a:r>
          </a:p>
          <a:p>
            <a:pPr marL="647695" lvl="1" indent="-323848" algn="just">
              <a:lnSpc>
                <a:spcPts val="5939"/>
              </a:lnSpc>
              <a:buFont typeface="Arial"/>
              <a:buChar char="•"/>
            </a:pPr>
            <a:r>
              <a:rPr lang="en-US" sz="2999">
                <a:solidFill>
                  <a:srgbClr val="000000"/>
                </a:solidFill>
                <a:latin typeface="Tinos"/>
                <a:ea typeface="Tinos"/>
                <a:cs typeface="Tinos"/>
                <a:sym typeface="Tinos"/>
              </a:rPr>
              <a:t> Nội dung bài học hiện mới ở mức mẫu, chưa bao phủ đầy đủ nhiều cấp độ tiếng Anh.</a:t>
            </a:r>
          </a:p>
          <a:p>
            <a:pPr marL="647695" lvl="1" indent="-323848" algn="just">
              <a:lnSpc>
                <a:spcPts val="5939"/>
              </a:lnSpc>
              <a:buFont typeface="Arial"/>
              <a:buChar char="•"/>
            </a:pPr>
            <a:r>
              <a:rPr lang="en-US" sz="2999">
                <a:solidFill>
                  <a:srgbClr val="000000"/>
                </a:solidFill>
                <a:latin typeface="Tinos"/>
                <a:ea typeface="Tinos"/>
                <a:cs typeface="Tinos"/>
                <a:sym typeface="Tinos"/>
              </a:rPr>
              <a:t> Việc đánh giá phát âm và bài viết vẫn còn đơn giản, chưa thể thay thế hoàn toàn giáo viên.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KẾT LUẬN</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14</a:t>
              </a:r>
            </a:p>
          </p:txBody>
        </p:sp>
      </p:grpSp>
      <p:sp>
        <p:nvSpPr>
          <p:cNvPr id="9" name="TextBox 9"/>
          <p:cNvSpPr txBox="1"/>
          <p:nvPr/>
        </p:nvSpPr>
        <p:spPr>
          <a:xfrm>
            <a:off x="349837" y="1868915"/>
            <a:ext cx="15943388" cy="5217797"/>
          </a:xfrm>
          <a:prstGeom prst="rect">
            <a:avLst/>
          </a:prstGeom>
        </p:spPr>
        <p:txBody>
          <a:bodyPr lIns="0" tIns="0" rIns="0" bIns="0" rtlCol="0" anchor="t">
            <a:spAutoFit/>
          </a:bodyPr>
          <a:lstStyle/>
          <a:p>
            <a:pPr algn="just">
              <a:lnSpc>
                <a:spcPts val="5939"/>
              </a:lnSpc>
            </a:pPr>
            <a:r>
              <a:rPr lang="en-US" sz="2999" b="1">
                <a:solidFill>
                  <a:srgbClr val="000000"/>
                </a:solidFill>
                <a:latin typeface="Tinos Bold"/>
                <a:ea typeface="Tinos Bold"/>
                <a:cs typeface="Tinos Bold"/>
                <a:sym typeface="Tinos Bold"/>
              </a:rPr>
              <a:t>HƯỚNG PHÁT TRIỂN</a:t>
            </a:r>
          </a:p>
          <a:p>
            <a:pPr marL="647695" lvl="1" indent="-323848" algn="just">
              <a:lnSpc>
                <a:spcPts val="5939"/>
              </a:lnSpc>
              <a:buFont typeface="Arial"/>
              <a:buChar char="•"/>
            </a:pPr>
            <a:r>
              <a:rPr lang="en-US" sz="2999">
                <a:solidFill>
                  <a:srgbClr val="000000"/>
                </a:solidFill>
                <a:latin typeface="Tinos"/>
                <a:ea typeface="Tinos"/>
                <a:cs typeface="Tinos"/>
                <a:sym typeface="Tinos"/>
              </a:rPr>
              <a:t> Cá nhân hóa lộ trình học bằng AI dựa trên hành vi và năng lực người học.</a:t>
            </a:r>
          </a:p>
          <a:p>
            <a:pPr marL="647695" lvl="1" indent="-323848" algn="just">
              <a:lnSpc>
                <a:spcPts val="5939"/>
              </a:lnSpc>
              <a:buFont typeface="Arial"/>
              <a:buChar char="•"/>
            </a:pPr>
            <a:r>
              <a:rPr lang="en-US" sz="2999">
                <a:solidFill>
                  <a:srgbClr val="000000"/>
                </a:solidFill>
                <a:latin typeface="Tinos"/>
                <a:ea typeface="Tinos"/>
                <a:cs typeface="Tinos"/>
                <a:sym typeface="Tinos"/>
              </a:rPr>
              <a:t> Phân tích phát âm chi tiết theo âm, trọng âm, ngữ điệu và tốc độ nói.</a:t>
            </a:r>
          </a:p>
          <a:p>
            <a:pPr marL="647695" lvl="1" indent="-323848" algn="just">
              <a:lnSpc>
                <a:spcPts val="5939"/>
              </a:lnSpc>
              <a:buFont typeface="Arial"/>
              <a:buChar char="•"/>
            </a:pPr>
            <a:r>
              <a:rPr lang="en-US" sz="2999">
                <a:solidFill>
                  <a:srgbClr val="000000"/>
                </a:solidFill>
                <a:latin typeface="Tinos"/>
                <a:ea typeface="Tinos"/>
                <a:cs typeface="Tinos"/>
                <a:sym typeface="Tinos"/>
              </a:rPr>
              <a:t> Mở rộng nội dung theo chuẩn CEFR A1–B2/C1.</a:t>
            </a:r>
          </a:p>
          <a:p>
            <a:pPr marL="647695" lvl="1" indent="-323848" algn="just">
              <a:lnSpc>
                <a:spcPts val="5939"/>
              </a:lnSpc>
              <a:buFont typeface="Arial"/>
              <a:buChar char="•"/>
            </a:pPr>
            <a:r>
              <a:rPr lang="en-US" sz="2999">
                <a:solidFill>
                  <a:srgbClr val="000000"/>
                </a:solidFill>
                <a:latin typeface="Tinos"/>
                <a:ea typeface="Tinos"/>
                <a:cs typeface="Tinos"/>
                <a:sym typeface="Tinos"/>
              </a:rPr>
              <a:t> Phát triển mobile app/PWA.</a:t>
            </a:r>
          </a:p>
          <a:p>
            <a:pPr marL="647695" lvl="1" indent="-323848" algn="just">
              <a:lnSpc>
                <a:spcPts val="5939"/>
              </a:lnSpc>
              <a:buFont typeface="Arial"/>
              <a:buChar char="•"/>
            </a:pPr>
            <a:r>
              <a:rPr lang="en-US" sz="2999">
                <a:solidFill>
                  <a:srgbClr val="000000"/>
                </a:solidFill>
                <a:latin typeface="Tinos"/>
                <a:ea typeface="Tinos"/>
                <a:cs typeface="Tinos"/>
                <a:sym typeface="Tinos"/>
              </a:rPr>
              <a:t> Tối ưu hạ tầng với caching, job queue, logging và monitoring.</a:t>
            </a:r>
          </a:p>
          <a:p>
            <a:pPr marL="647695" lvl="1" indent="-323848" algn="just">
              <a:lnSpc>
                <a:spcPts val="5939"/>
              </a:lnSpc>
              <a:buFont typeface="Arial"/>
              <a:buChar char="•"/>
            </a:pPr>
            <a:r>
              <a:rPr lang="en-US" sz="2999">
                <a:solidFill>
                  <a:srgbClr val="000000"/>
                </a:solidFill>
                <a:latin typeface="Tinos"/>
                <a:ea typeface="Tinos"/>
                <a:cs typeface="Tinos"/>
                <a:sym typeface="Tinos"/>
              </a:rPr>
              <a:t> Xây dựng kho nội dung mở cho giáo viên/admin đóng góp bài học.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TÀI LIỆU THAM KHẢO</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sp>
        <p:nvSpPr>
          <p:cNvPr id="9" name="TextBox 9"/>
          <p:cNvSpPr txBox="1"/>
          <p:nvPr/>
        </p:nvSpPr>
        <p:spPr>
          <a:xfrm>
            <a:off x="294999" y="1442685"/>
            <a:ext cx="17456603" cy="5704639"/>
          </a:xfrm>
          <a:prstGeom prst="rect">
            <a:avLst/>
          </a:prstGeom>
        </p:spPr>
        <p:txBody>
          <a:bodyPr lIns="0" tIns="0" rIns="0" bIns="0" rtlCol="0" anchor="t">
            <a:spAutoFit/>
          </a:bodyPr>
          <a:lstStyle/>
          <a:p>
            <a:pPr algn="l">
              <a:lnSpc>
                <a:spcPts val="6499"/>
              </a:lnSpc>
            </a:pPr>
            <a:r>
              <a:rPr lang="en-US" sz="2599" dirty="0">
                <a:solidFill>
                  <a:srgbClr val="000000"/>
                </a:solidFill>
                <a:latin typeface="Tinos"/>
                <a:ea typeface="Tinos"/>
                <a:cs typeface="Tinos"/>
                <a:sym typeface="Tinos"/>
              </a:rPr>
              <a:t>[1] Radford et al. (2023). Robust Speech Recognition via Large-Sc</a:t>
            </a:r>
            <a:r>
              <a:rPr lang="en-US" sz="2599" u="none" dirty="0">
                <a:solidFill>
                  <a:srgbClr val="000000"/>
                </a:solidFill>
                <a:latin typeface="Tinos"/>
                <a:ea typeface="Tinos"/>
                <a:cs typeface="Tinos"/>
                <a:sym typeface="Tinos"/>
              </a:rPr>
              <a:t>al</a:t>
            </a:r>
            <a:r>
              <a:rPr lang="en-US" sz="2599" dirty="0">
                <a:solidFill>
                  <a:srgbClr val="000000"/>
                </a:solidFill>
                <a:latin typeface="Tinos"/>
                <a:ea typeface="Tinos"/>
                <a:cs typeface="Tinos"/>
                <a:sym typeface="Tinos"/>
              </a:rPr>
              <a:t>e Weak Supe</a:t>
            </a:r>
            <a:r>
              <a:rPr lang="en-US" sz="2599" u="none" dirty="0">
                <a:solidFill>
                  <a:srgbClr val="000000"/>
                </a:solidFill>
                <a:latin typeface="Tinos"/>
                <a:ea typeface="Tinos"/>
                <a:cs typeface="Tinos"/>
                <a:sym typeface="Tinos"/>
              </a:rPr>
              <a:t>rvi</a:t>
            </a:r>
            <a:r>
              <a:rPr lang="en-US" sz="2599" dirty="0">
                <a:solidFill>
                  <a:srgbClr val="000000"/>
                </a:solidFill>
                <a:latin typeface="Tinos"/>
                <a:ea typeface="Tinos"/>
                <a:cs typeface="Tinos"/>
                <a:sym typeface="Tinos"/>
              </a:rPr>
              <a:t>sion. ICML 2023.</a:t>
            </a:r>
          </a:p>
          <a:p>
            <a:pPr algn="l">
              <a:lnSpc>
                <a:spcPts val="6499"/>
              </a:lnSpc>
            </a:pPr>
            <a:r>
              <a:rPr lang="en-US" sz="2599" dirty="0">
                <a:solidFill>
                  <a:srgbClr val="000000"/>
                </a:solidFill>
                <a:latin typeface="Tinos"/>
                <a:ea typeface="Tinos"/>
                <a:cs typeface="Tinos"/>
                <a:sym typeface="Tinos"/>
              </a:rPr>
              <a:t>[2] OpenAI API Documentation. https://platform.openai.com/docs/.</a:t>
            </a:r>
          </a:p>
          <a:p>
            <a:pPr algn="l">
              <a:lnSpc>
                <a:spcPts val="6499"/>
              </a:lnSpc>
            </a:pPr>
            <a:r>
              <a:rPr lang="en-US" sz="2599" dirty="0">
                <a:solidFill>
                  <a:srgbClr val="000000"/>
                </a:solidFill>
                <a:latin typeface="Tinos"/>
                <a:ea typeface="Tinos"/>
                <a:cs typeface="Tinos"/>
                <a:sym typeface="Tinos"/>
              </a:rPr>
              <a:t>[3] React Documentation. https://react.dev/.</a:t>
            </a:r>
          </a:p>
          <a:p>
            <a:pPr algn="l">
              <a:lnSpc>
                <a:spcPts val="6499"/>
              </a:lnSpc>
            </a:pPr>
            <a:r>
              <a:rPr lang="en-US" sz="2599" dirty="0">
                <a:solidFill>
                  <a:srgbClr val="000000"/>
                </a:solidFill>
                <a:latin typeface="Tinos"/>
                <a:ea typeface="Tinos"/>
                <a:cs typeface="Tinos"/>
                <a:sym typeface="Tinos"/>
              </a:rPr>
              <a:t>[4] Node.js Documentation. https://nodejs.org/docs/.</a:t>
            </a:r>
          </a:p>
          <a:p>
            <a:pPr algn="l">
              <a:lnSpc>
                <a:spcPts val="6499"/>
              </a:lnSpc>
            </a:pPr>
            <a:r>
              <a:rPr lang="en-US" sz="2599" dirty="0">
                <a:solidFill>
                  <a:srgbClr val="000000"/>
                </a:solidFill>
                <a:latin typeface="Tinos"/>
                <a:ea typeface="Tinos"/>
                <a:cs typeface="Tinos"/>
                <a:sym typeface="Tinos"/>
              </a:rPr>
              <a:t>[5] Express.js Documentation. </a:t>
            </a:r>
            <a:r>
              <a:rPr lang="en-US" sz="2599" u="none" dirty="0">
                <a:solidFill>
                  <a:srgbClr val="000000"/>
                </a:solidFill>
                <a:latin typeface="Tinos"/>
                <a:ea typeface="Tinos"/>
                <a:cs typeface="Tinos"/>
                <a:sym typeface="Tinos"/>
              </a:rPr>
              <a:t>https://</a:t>
            </a:r>
            <a:r>
              <a:rPr lang="en-US" sz="2599" dirty="0">
                <a:solidFill>
                  <a:srgbClr val="000000"/>
                </a:solidFill>
                <a:latin typeface="Tinos"/>
                <a:ea typeface="Tinos"/>
                <a:cs typeface="Tinos"/>
                <a:sym typeface="Tinos"/>
              </a:rPr>
              <a:t>expressjs.c</a:t>
            </a:r>
            <a:r>
              <a:rPr lang="en-US" sz="2599" u="none" dirty="0">
                <a:solidFill>
                  <a:srgbClr val="000000"/>
                </a:solidFill>
                <a:latin typeface="Tinos"/>
                <a:ea typeface="Tinos"/>
                <a:cs typeface="Tinos"/>
                <a:sym typeface="Tinos"/>
              </a:rPr>
              <a:t>om/.</a:t>
            </a:r>
          </a:p>
          <a:p>
            <a:pPr algn="l">
              <a:lnSpc>
                <a:spcPts val="6499"/>
              </a:lnSpc>
            </a:pPr>
            <a:r>
              <a:rPr lang="en-US" sz="2599" dirty="0">
                <a:solidFill>
                  <a:srgbClr val="000000"/>
                </a:solidFill>
                <a:latin typeface="Tinos"/>
                <a:ea typeface="Tinos"/>
                <a:cs typeface="Tinos"/>
                <a:sym typeface="Tinos"/>
              </a:rPr>
              <a:t>[6] PostgreSQL Document</a:t>
            </a:r>
            <a:r>
              <a:rPr lang="en-US" sz="2599" u="none" dirty="0">
                <a:solidFill>
                  <a:srgbClr val="000000"/>
                </a:solidFill>
                <a:latin typeface="Tinos"/>
                <a:ea typeface="Tinos"/>
                <a:cs typeface="Tinos"/>
                <a:sym typeface="Tinos"/>
              </a:rPr>
              <a:t>ati</a:t>
            </a:r>
            <a:r>
              <a:rPr lang="en-US" sz="2599" dirty="0">
                <a:solidFill>
                  <a:srgbClr val="000000"/>
                </a:solidFill>
                <a:latin typeface="Tinos"/>
                <a:ea typeface="Tinos"/>
                <a:cs typeface="Tinos"/>
                <a:sym typeface="Tinos"/>
              </a:rPr>
              <a:t>on</a:t>
            </a:r>
            <a:r>
              <a:rPr lang="en-US" sz="2599" u="none" dirty="0">
                <a:solidFill>
                  <a:srgbClr val="000000"/>
                </a:solidFill>
                <a:latin typeface="Tinos"/>
                <a:ea typeface="Tinos"/>
                <a:cs typeface="Tinos"/>
                <a:sym typeface="Tinos"/>
              </a:rPr>
              <a:t>.</a:t>
            </a:r>
            <a:r>
              <a:rPr lang="en-US" sz="2599" dirty="0">
                <a:solidFill>
                  <a:srgbClr val="000000"/>
                </a:solidFill>
                <a:latin typeface="Tinos"/>
                <a:ea typeface="Tinos"/>
                <a:cs typeface="Tinos"/>
                <a:sym typeface="Tinos"/>
              </a:rPr>
              <a:t> https://www.postgresql.org/docs/.</a:t>
            </a:r>
          </a:p>
          <a:p>
            <a:pPr algn="l">
              <a:lnSpc>
                <a:spcPts val="6499"/>
              </a:lnSpc>
            </a:pPr>
            <a:r>
              <a:rPr lang="en-US" sz="2599" dirty="0">
                <a:solidFill>
                  <a:srgbClr val="000000"/>
                </a:solidFill>
                <a:latin typeface="Tinos"/>
                <a:ea typeface="Tinos"/>
                <a:cs typeface="Tinos"/>
                <a:sym typeface="Tinos"/>
              </a:rPr>
              <a:t>[7] SYSTRAN faster-whisper. https://github.com/SYSTRAN/faster-whisper.</a:t>
            </a:r>
          </a:p>
        </p:txBody>
      </p:sp>
      <p:grpSp>
        <p:nvGrpSpPr>
          <p:cNvPr id="10" name="Group 6">
            <a:extLst>
              <a:ext uri="{FF2B5EF4-FFF2-40B4-BE49-F238E27FC236}">
                <a16:creationId xmlns:a16="http://schemas.microsoft.com/office/drawing/2014/main" id="{02808D72-C489-DC71-8CF7-F076F4C1E582}"/>
              </a:ext>
            </a:extLst>
          </p:cNvPr>
          <p:cNvGrpSpPr/>
          <p:nvPr/>
        </p:nvGrpSpPr>
        <p:grpSpPr>
          <a:xfrm>
            <a:off x="17438588" y="9501619"/>
            <a:ext cx="626028" cy="626028"/>
            <a:chOff x="0" y="0"/>
            <a:chExt cx="812800" cy="812800"/>
          </a:xfrm>
        </p:grpSpPr>
        <p:sp>
          <p:nvSpPr>
            <p:cNvPr id="11" name="Freeform 7">
              <a:extLst>
                <a:ext uri="{FF2B5EF4-FFF2-40B4-BE49-F238E27FC236}">
                  <a16:creationId xmlns:a16="http://schemas.microsoft.com/office/drawing/2014/main" id="{2943841A-37F9-78D5-28EC-26A33B0967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txBody>
            <a:bodyPr/>
            <a:lstStyle/>
            <a:p>
              <a:endParaRPr lang="en-US" dirty="0"/>
            </a:p>
          </p:txBody>
        </p:sp>
        <p:sp>
          <p:nvSpPr>
            <p:cNvPr id="12" name="TextBox 8">
              <a:extLst>
                <a:ext uri="{FF2B5EF4-FFF2-40B4-BE49-F238E27FC236}">
                  <a16:creationId xmlns:a16="http://schemas.microsoft.com/office/drawing/2014/main" id="{F3DAFEBE-95B3-367B-CA76-ADBE3B2A6BFC}"/>
                </a:ext>
              </a:extLst>
            </p:cNvPr>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15</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KHÓA LUẬN TỐT NGHIỆP</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sp>
        <p:nvSpPr>
          <p:cNvPr id="6" name="TextBox 6"/>
          <p:cNvSpPr txBox="1"/>
          <p:nvPr/>
        </p:nvSpPr>
        <p:spPr>
          <a:xfrm>
            <a:off x="1633143" y="3664585"/>
            <a:ext cx="15477649" cy="2710180"/>
          </a:xfrm>
          <a:prstGeom prst="rect">
            <a:avLst/>
          </a:prstGeom>
        </p:spPr>
        <p:txBody>
          <a:bodyPr lIns="0" tIns="0" rIns="0" bIns="0" rtlCol="0" anchor="t">
            <a:spAutoFit/>
          </a:bodyPr>
          <a:lstStyle/>
          <a:p>
            <a:pPr algn="ctr">
              <a:lnSpc>
                <a:spcPts val="11059"/>
              </a:lnSpc>
            </a:pPr>
            <a:r>
              <a:rPr lang="en-US" sz="6999" b="1">
                <a:solidFill>
                  <a:srgbClr val="000000"/>
                </a:solidFill>
                <a:latin typeface="Oswald Bold"/>
                <a:ea typeface="Oswald Bold"/>
                <a:cs typeface="Oswald Bold"/>
                <a:sym typeface="Oswald Bold"/>
              </a:rPr>
              <a:t>XIN CẢM ƠN QUÝ THẦY CÔ VÀ CÁC BẠN ĐÃ </a:t>
            </a:r>
          </a:p>
          <a:p>
            <a:pPr algn="ctr">
              <a:lnSpc>
                <a:spcPts val="11059"/>
              </a:lnSpc>
            </a:pPr>
            <a:r>
              <a:rPr lang="en-US" sz="6999" b="1">
                <a:solidFill>
                  <a:srgbClr val="000000"/>
                </a:solidFill>
                <a:latin typeface="Oswald Bold"/>
                <a:ea typeface="Oswald Bold"/>
                <a:cs typeface="Oswald Bold"/>
                <a:sym typeface="Oswald Bold"/>
              </a:rPr>
              <a:t>LẮNG NGHE PHẦN TRÌNH BÀY CỦA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1027</Words>
  <Application>Microsoft Office PowerPoint</Application>
  <PresentationFormat>Custom</PresentationFormat>
  <Paragraphs>99</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Oswald Bold</vt:lpstr>
      <vt:lpstr>Oswald</vt:lpstr>
      <vt:lpstr>Kelvinch Bold</vt:lpstr>
      <vt:lpstr>Tinos Bold</vt:lpstr>
      <vt:lpstr>Arial</vt:lpstr>
      <vt:lpstr>Calibri</vt:lpstr>
      <vt:lpstr>Tinos</vt:lpstr>
      <vt:lpstr>Kelvinch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sao của KLTN - VINA ACADEMY</dc:title>
  <cp:lastModifiedBy>Administrator</cp:lastModifiedBy>
  <cp:revision>2</cp:revision>
  <dcterms:created xsi:type="dcterms:W3CDTF">2006-08-16T00:00:00Z</dcterms:created>
  <dcterms:modified xsi:type="dcterms:W3CDTF">2026-07-05T03:22:27Z</dcterms:modified>
  <dc:identifier>DAHOZUY9PrE</dc:identifier>
</cp:coreProperties>
</file>